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AF3"/>
        </a:solidFill>
        <a:effectLst/>
      </p:bgPr>
    </p:bg>
    <p:spTree>
      <p:nvGrpSpPr>
        <p:cNvPr id="1" name=""/>
        <p:cNvGrpSpPr/>
        <p:nvPr/>
      </p:nvGrpSpPr>
      <p:grpSpPr/>
      <p:sp>
        <p:nvSpPr>
          <p:cNvPr id="2" name="Rectangle 1"/>
          <p:cNvSpPr/>
          <p:nvPr/>
        </p:nvSpPr>
        <p:spPr>
          <a:xfrm>
            <a:off x="0" y="0"/>
            <a:ext cx="7560000" cy="162000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72000"/>
            <a:ext cx="6983999" cy="432000"/>
          </a:xfrm>
          <a:prstGeom prst="rect">
            <a:avLst/>
          </a:prstGeom>
          <a:noFill/>
        </p:spPr>
        <p:txBody>
          <a:bodyPr wrap="square">
            <a:spAutoFit/>
          </a:bodyPr>
          <a:lstStyle/>
          <a:p>
            <a:pPr algn="l"/>
            <a:r>
              <a:rPr sz="1400" b="0" i="0">
                <a:solidFill>
                  <a:srgbClr val="C8FFD4"/>
                </a:solidFill>
                <a:latin typeface="メイリオ"/>
              </a:rPr>
              <a:t>スーパーサンプラザ</a:t>
            </a:r>
          </a:p>
        </p:txBody>
      </p:sp>
      <p:sp>
        <p:nvSpPr>
          <p:cNvPr id="4" name="TextBox 3"/>
          <p:cNvSpPr txBox="1"/>
          <p:nvPr/>
        </p:nvSpPr>
        <p:spPr>
          <a:xfrm>
            <a:off x="180000" y="324000"/>
            <a:ext cx="7200000" cy="900000"/>
          </a:xfrm>
          <a:prstGeom prst="rect">
            <a:avLst/>
          </a:prstGeom>
          <a:noFill/>
        </p:spPr>
        <p:txBody>
          <a:bodyPr wrap="square">
            <a:spAutoFit/>
          </a:bodyPr>
          <a:lstStyle/>
          <a:p>
            <a:pPr algn="ctr"/>
            <a:r>
              <a:rPr sz="4400" b="1" i="0">
                <a:solidFill>
                  <a:srgbClr val="FFFFFF"/>
                </a:solidFill>
                <a:latin typeface="メイリオ"/>
              </a:rPr>
              <a:t>ひだまり通信</a:t>
            </a:r>
          </a:p>
        </p:txBody>
      </p:sp>
      <p:sp>
        <p:nvSpPr>
          <p:cNvPr id="5" name="TextBox 4"/>
          <p:cNvSpPr txBox="1"/>
          <p:nvPr/>
        </p:nvSpPr>
        <p:spPr>
          <a:xfrm>
            <a:off x="180000" y="1206000"/>
            <a:ext cx="7200000" cy="288000"/>
          </a:xfrm>
          <a:prstGeom prst="rect">
            <a:avLst/>
          </a:prstGeom>
          <a:noFill/>
        </p:spPr>
        <p:txBody>
          <a:bodyPr wrap="square">
            <a:spAutoFit/>
          </a:bodyPr>
          <a:lstStyle/>
          <a:p>
            <a:pPr algn="ctr"/>
            <a:r>
              <a:rPr sz="1050" b="0" i="1">
                <a:solidFill>
                  <a:srgbClr val="D8F0E3"/>
                </a:solidFill>
                <a:latin typeface="メイリオ"/>
              </a:rPr>
              <a:t>〜 働くみんなの笑顔をつなぐ社内報 〜</a:t>
            </a:r>
          </a:p>
        </p:txBody>
      </p:sp>
      <p:sp>
        <p:nvSpPr>
          <p:cNvPr id="6" name="Rounded Rectangle 5"/>
          <p:cNvSpPr/>
          <p:nvPr/>
        </p:nvSpPr>
        <p:spPr>
          <a:xfrm>
            <a:off x="1980000" y="1440000"/>
            <a:ext cx="3600000" cy="396000"/>
          </a:xfrm>
          <a:prstGeom prst="roundRect">
            <a:avLst>
              <a:gd name="adj" fmla="val 5000"/>
            </a:avLst>
          </a:prstGeom>
          <a:solidFill>
            <a:srgbClr val="FFE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80000" y="1458000"/>
            <a:ext cx="3600000" cy="360000"/>
          </a:xfrm>
          <a:prstGeom prst="rect">
            <a:avLst/>
          </a:prstGeom>
          <a:noFill/>
        </p:spPr>
        <p:txBody>
          <a:bodyPr wrap="square">
            <a:spAutoFit/>
          </a:bodyPr>
          <a:lstStyle/>
          <a:p>
            <a:pPr algn="ctr"/>
            <a:r>
              <a:rPr sz="1300" b="1" i="0">
                <a:solidFill>
                  <a:srgbClr val="0F5228"/>
                </a:solidFill>
                <a:latin typeface="メイリオ"/>
              </a:rPr>
              <a:t>創刊号  Vol.1  ✦  2026年6月号</a:t>
            </a:r>
          </a:p>
        </p:txBody>
      </p:sp>
      <p:sp>
        <p:nvSpPr>
          <p:cNvPr id="8" name="TextBox 7"/>
          <p:cNvSpPr txBox="1"/>
          <p:nvPr/>
        </p:nvSpPr>
        <p:spPr>
          <a:xfrm>
            <a:off x="360000" y="432000"/>
            <a:ext cx="360000" cy="360000"/>
          </a:xfrm>
          <a:prstGeom prst="rect">
            <a:avLst/>
          </a:prstGeom>
          <a:noFill/>
        </p:spPr>
        <p:txBody>
          <a:bodyPr wrap="square">
            <a:spAutoFit/>
          </a:bodyPr>
          <a:lstStyle/>
          <a:p>
            <a:pPr algn="ctr"/>
            <a:r>
              <a:rPr sz="2000" b="0" i="0">
                <a:solidFill>
                  <a:srgbClr val="A8FFC0"/>
                </a:solidFill>
                <a:latin typeface="メイリオ"/>
              </a:rPr>
              <a:t>🌿</a:t>
            </a:r>
          </a:p>
        </p:txBody>
      </p:sp>
      <p:sp>
        <p:nvSpPr>
          <p:cNvPr id="9" name="TextBox 8"/>
          <p:cNvSpPr txBox="1"/>
          <p:nvPr/>
        </p:nvSpPr>
        <p:spPr>
          <a:xfrm>
            <a:off x="6480000" y="432000"/>
            <a:ext cx="360000" cy="360000"/>
          </a:xfrm>
          <a:prstGeom prst="rect">
            <a:avLst/>
          </a:prstGeom>
          <a:noFill/>
        </p:spPr>
        <p:txBody>
          <a:bodyPr wrap="square">
            <a:spAutoFit/>
          </a:bodyPr>
          <a:lstStyle/>
          <a:p>
            <a:pPr algn="ctr"/>
            <a:r>
              <a:rPr sz="2000" b="0" i="0">
                <a:solidFill>
                  <a:srgbClr val="A8FFC0"/>
                </a:solidFill>
                <a:latin typeface="メイリオ"/>
              </a:rPr>
              <a:t>🌿</a:t>
            </a:r>
          </a:p>
        </p:txBody>
      </p:sp>
      <p:sp>
        <p:nvSpPr>
          <p:cNvPr id="10" name="TextBox 9"/>
          <p:cNvSpPr txBox="1"/>
          <p:nvPr/>
        </p:nvSpPr>
        <p:spPr>
          <a:xfrm>
            <a:off x="720000" y="1080000"/>
            <a:ext cx="360000" cy="360000"/>
          </a:xfrm>
          <a:prstGeom prst="rect">
            <a:avLst/>
          </a:prstGeom>
          <a:noFill/>
        </p:spPr>
        <p:txBody>
          <a:bodyPr wrap="square">
            <a:spAutoFit/>
          </a:bodyPr>
          <a:lstStyle/>
          <a:p>
            <a:pPr algn="ctr"/>
            <a:r>
              <a:rPr sz="2000" b="0" i="0">
                <a:solidFill>
                  <a:srgbClr val="A8FFC0"/>
                </a:solidFill>
                <a:latin typeface="メイリオ"/>
              </a:rPr>
              <a:t>🌿</a:t>
            </a:r>
          </a:p>
        </p:txBody>
      </p:sp>
      <p:sp>
        <p:nvSpPr>
          <p:cNvPr id="11" name="TextBox 10"/>
          <p:cNvSpPr txBox="1"/>
          <p:nvPr/>
        </p:nvSpPr>
        <p:spPr>
          <a:xfrm>
            <a:off x="6120000" y="1080000"/>
            <a:ext cx="360000" cy="360000"/>
          </a:xfrm>
          <a:prstGeom prst="rect">
            <a:avLst/>
          </a:prstGeom>
          <a:noFill/>
        </p:spPr>
        <p:txBody>
          <a:bodyPr wrap="square">
            <a:spAutoFit/>
          </a:bodyPr>
          <a:lstStyle/>
          <a:p>
            <a:pPr algn="ctr"/>
            <a:r>
              <a:rPr sz="2000" b="0" i="0">
                <a:solidFill>
                  <a:srgbClr val="A8FFC0"/>
                </a:solidFill>
                <a:latin typeface="メイリオ"/>
              </a:rPr>
              <a:t>🌿</a:t>
            </a:r>
          </a:p>
        </p:txBody>
      </p:sp>
      <p:sp>
        <p:nvSpPr>
          <p:cNvPr id="12" name="Rounded Rectangle 11"/>
          <p:cNvSpPr/>
          <p:nvPr/>
        </p:nvSpPr>
        <p:spPr>
          <a:xfrm>
            <a:off x="360000" y="1944000"/>
            <a:ext cx="6840000" cy="352800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8000" y="2052000"/>
            <a:ext cx="6623999" cy="2232000"/>
          </a:xfrm>
          <a:prstGeom prst="rect">
            <a:avLst/>
          </a:prstGeom>
          <a:solidFill>
            <a:srgbClr val="F0F0F0"/>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000" y="2952000"/>
            <a:ext cx="6623999" cy="432000"/>
          </a:xfrm>
          <a:prstGeom prst="rect">
            <a:avLst/>
          </a:prstGeom>
          <a:noFill/>
        </p:spPr>
        <p:txBody>
          <a:bodyPr wrap="square">
            <a:spAutoFit/>
          </a:bodyPr>
          <a:lstStyle/>
          <a:p>
            <a:pPr algn="ctr"/>
            <a:r>
              <a:rPr sz="850" b="0" i="0">
                <a:solidFill>
                  <a:srgbClr val="888888"/>
                </a:solidFill>
                <a:latin typeface="メイリオ"/>
              </a:rPr>
              <a:t>🌻</a:t>
            </a:r>
            <a:br/>
            <a:r>
              <a:t>表紙メインビジュアル</a:t>
            </a:r>
            <a:br/>
            <a:r>
              <a:t>（従業員笑顔の集合写真 / ひまわり × 野菜モチーフなど）</a:t>
            </a:r>
          </a:p>
        </p:txBody>
      </p:sp>
      <p:sp>
        <p:nvSpPr>
          <p:cNvPr id="15" name="TextBox 14"/>
          <p:cNvSpPr txBox="1"/>
          <p:nvPr/>
        </p:nvSpPr>
        <p:spPr>
          <a:xfrm>
            <a:off x="468000" y="4356000"/>
            <a:ext cx="6623999" cy="324000"/>
          </a:xfrm>
          <a:prstGeom prst="rect">
            <a:avLst/>
          </a:prstGeom>
          <a:noFill/>
        </p:spPr>
        <p:txBody>
          <a:bodyPr wrap="square">
            <a:spAutoFit/>
          </a:bodyPr>
          <a:lstStyle/>
          <a:p>
            <a:pPr algn="ctr"/>
            <a:r>
              <a:rPr sz="1600" b="0" i="0">
                <a:solidFill>
                  <a:srgbClr val="1A7A3C"/>
                </a:solidFill>
                <a:latin typeface="メイリオ"/>
              </a:rPr>
              <a:t>🌿  🌸  ☀️  🌿  🌼  🌿  ☀️  🌸  🌿</a:t>
            </a:r>
          </a:p>
        </p:txBody>
      </p:sp>
      <p:sp>
        <p:nvSpPr>
          <p:cNvPr id="16" name="Rounded Rectangle 15"/>
          <p:cNvSpPr/>
          <p:nvPr/>
        </p:nvSpPr>
        <p:spPr>
          <a:xfrm>
            <a:off x="468000" y="4716000"/>
            <a:ext cx="6623999" cy="684000"/>
          </a:xfrm>
          <a:prstGeom prst="roundRect">
            <a:avLst>
              <a:gd name="adj" fmla="val 5000"/>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0000" y="4734000"/>
            <a:ext cx="6480000" cy="648000"/>
          </a:xfrm>
          <a:prstGeom prst="rect">
            <a:avLst/>
          </a:prstGeom>
          <a:noFill/>
        </p:spPr>
        <p:txBody>
          <a:bodyPr wrap="square">
            <a:spAutoFit/>
          </a:bodyPr>
          <a:lstStyle/>
          <a:p>
            <a:pPr algn="ctr"/>
            <a:r>
              <a:rPr sz="1050" b="0" i="0">
                <a:solidFill>
                  <a:srgbClr val="0F5228"/>
                </a:solidFill>
                <a:latin typeface="メイリオ"/>
              </a:rPr>
              <a:t>みんなで作る、みんなが主役の社内報です！</a:t>
            </a:r>
            <a:br/>
            <a:r>
              <a:t>投稿・エピソード随時大募集中  ✉️  総務部まで</a:t>
            </a:r>
          </a:p>
        </p:txBody>
      </p:sp>
      <p:sp>
        <p:nvSpPr>
          <p:cNvPr id="18" name="Rounded Rectangle 17"/>
          <p:cNvSpPr/>
          <p:nvPr/>
        </p:nvSpPr>
        <p:spPr>
          <a:xfrm>
            <a:off x="360000" y="5508000"/>
            <a:ext cx="2160000" cy="1620000"/>
          </a:xfrm>
          <a:prstGeom prst="roundRect">
            <a:avLst>
              <a:gd name="adj" fmla="val 7000"/>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5580000"/>
            <a:ext cx="2160000" cy="432000"/>
          </a:xfrm>
          <a:prstGeom prst="rect">
            <a:avLst/>
          </a:prstGeom>
          <a:noFill/>
        </p:spPr>
        <p:txBody>
          <a:bodyPr wrap="square">
            <a:spAutoFit/>
          </a:bodyPr>
          <a:lstStyle/>
          <a:p>
            <a:pPr algn="ctr"/>
            <a:r>
              <a:rPr sz="2200" b="0" i="0">
                <a:solidFill>
                  <a:srgbClr val="FFFFFF"/>
                </a:solidFill>
                <a:latin typeface="メイリオ"/>
              </a:rPr>
              <a:t>🏔</a:t>
            </a:r>
          </a:p>
        </p:txBody>
      </p:sp>
      <p:sp>
        <p:nvSpPr>
          <p:cNvPr id="20" name="TextBox 19"/>
          <p:cNvSpPr txBox="1"/>
          <p:nvPr/>
        </p:nvSpPr>
        <p:spPr>
          <a:xfrm>
            <a:off x="432000" y="6012000"/>
            <a:ext cx="2015999" cy="251999"/>
          </a:xfrm>
          <a:prstGeom prst="rect">
            <a:avLst/>
          </a:prstGeom>
          <a:noFill/>
        </p:spPr>
        <p:txBody>
          <a:bodyPr wrap="square">
            <a:spAutoFit/>
          </a:bodyPr>
          <a:lstStyle/>
          <a:p>
            <a:pPr algn="ctr"/>
            <a:r>
              <a:rPr sz="1000" b="1" i="0">
                <a:solidFill>
                  <a:srgbClr val="FFFFFF"/>
                </a:solidFill>
                <a:latin typeface="メイリオ"/>
              </a:rPr>
              <a:t>P.2</a:t>
            </a:r>
          </a:p>
        </p:txBody>
      </p:sp>
      <p:sp>
        <p:nvSpPr>
          <p:cNvPr id="21" name="TextBox 20"/>
          <p:cNvSpPr txBox="1"/>
          <p:nvPr/>
        </p:nvSpPr>
        <p:spPr>
          <a:xfrm>
            <a:off x="432000" y="6263999"/>
            <a:ext cx="2015999" cy="720000"/>
          </a:xfrm>
          <a:prstGeom prst="rect">
            <a:avLst/>
          </a:prstGeom>
          <a:noFill/>
        </p:spPr>
        <p:txBody>
          <a:bodyPr wrap="square">
            <a:spAutoFit/>
          </a:bodyPr>
          <a:lstStyle/>
          <a:p>
            <a:pPr algn="ctr"/>
            <a:r>
              <a:rPr sz="1150" b="1" i="0">
                <a:solidFill>
                  <a:srgbClr val="FFFFFF"/>
                </a:solidFill>
                <a:latin typeface="メイリオ"/>
              </a:rPr>
              <a:t>堺東駅前店の</a:t>
            </a:r>
            <a:br/>
            <a:r>
              <a:t>職場自慢！</a:t>
            </a:r>
          </a:p>
        </p:txBody>
      </p:sp>
      <p:sp>
        <p:nvSpPr>
          <p:cNvPr id="22" name="Rounded Rectangle 21"/>
          <p:cNvSpPr/>
          <p:nvPr/>
        </p:nvSpPr>
        <p:spPr>
          <a:xfrm>
            <a:off x="2700000" y="5508000"/>
            <a:ext cx="2160000" cy="1620000"/>
          </a:xfrm>
          <a:prstGeom prst="roundRect">
            <a:avLst>
              <a:gd name="adj" fmla="val 7000"/>
            </a:avLst>
          </a:prstGeom>
          <a:solidFill>
            <a:srgbClr val="FFA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00000" y="5580000"/>
            <a:ext cx="2160000" cy="432000"/>
          </a:xfrm>
          <a:prstGeom prst="rect">
            <a:avLst/>
          </a:prstGeom>
          <a:noFill/>
        </p:spPr>
        <p:txBody>
          <a:bodyPr wrap="square">
            <a:spAutoFit/>
          </a:bodyPr>
          <a:lstStyle/>
          <a:p>
            <a:pPr algn="ctr"/>
            <a:r>
              <a:rPr sz="2200" b="0" i="0">
                <a:solidFill>
                  <a:srgbClr val="FFFFFF"/>
                </a:solidFill>
                <a:latin typeface="メイリオ"/>
              </a:rPr>
              <a:t>🍳</a:t>
            </a:r>
          </a:p>
        </p:txBody>
      </p:sp>
      <p:sp>
        <p:nvSpPr>
          <p:cNvPr id="24" name="TextBox 23"/>
          <p:cNvSpPr txBox="1"/>
          <p:nvPr/>
        </p:nvSpPr>
        <p:spPr>
          <a:xfrm>
            <a:off x="2772000" y="6012000"/>
            <a:ext cx="2015999" cy="251999"/>
          </a:xfrm>
          <a:prstGeom prst="rect">
            <a:avLst/>
          </a:prstGeom>
          <a:noFill/>
        </p:spPr>
        <p:txBody>
          <a:bodyPr wrap="square">
            <a:spAutoFit/>
          </a:bodyPr>
          <a:lstStyle/>
          <a:p>
            <a:pPr algn="ctr"/>
            <a:r>
              <a:rPr sz="1000" b="1" i="0">
                <a:solidFill>
                  <a:srgbClr val="FFFFFF"/>
                </a:solidFill>
                <a:latin typeface="メイリオ"/>
              </a:rPr>
              <a:t>P.3</a:t>
            </a:r>
          </a:p>
        </p:txBody>
      </p:sp>
      <p:sp>
        <p:nvSpPr>
          <p:cNvPr id="25" name="TextBox 24"/>
          <p:cNvSpPr txBox="1"/>
          <p:nvPr/>
        </p:nvSpPr>
        <p:spPr>
          <a:xfrm>
            <a:off x="2772000" y="6263999"/>
            <a:ext cx="2015999" cy="720000"/>
          </a:xfrm>
          <a:prstGeom prst="rect">
            <a:avLst/>
          </a:prstGeom>
          <a:noFill/>
        </p:spPr>
        <p:txBody>
          <a:bodyPr wrap="square">
            <a:spAutoFit/>
          </a:bodyPr>
          <a:lstStyle/>
          <a:p>
            <a:pPr algn="ctr"/>
            <a:r>
              <a:rPr sz="1150" b="1" i="0">
                <a:solidFill>
                  <a:srgbClr val="FFFFFF"/>
                </a:solidFill>
                <a:latin typeface="メイリオ"/>
              </a:rPr>
              <a:t>唐揚げで</a:t>
            </a:r>
            <a:br/>
            <a:r>
              <a:t>親子丼レシピ</a:t>
            </a:r>
          </a:p>
        </p:txBody>
      </p:sp>
      <p:sp>
        <p:nvSpPr>
          <p:cNvPr id="26" name="Rounded Rectangle 25"/>
          <p:cNvSpPr/>
          <p:nvPr/>
        </p:nvSpPr>
        <p:spPr>
          <a:xfrm>
            <a:off x="5040000" y="5508000"/>
            <a:ext cx="2160000" cy="1620000"/>
          </a:xfrm>
          <a:prstGeom prst="roundRect">
            <a:avLst>
              <a:gd name="adj" fmla="val 7000"/>
            </a:avLst>
          </a:prstGeom>
          <a:solidFill>
            <a:srgbClr val="F48F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40000" y="5580000"/>
            <a:ext cx="2160000" cy="432000"/>
          </a:xfrm>
          <a:prstGeom prst="rect">
            <a:avLst/>
          </a:prstGeom>
          <a:noFill/>
        </p:spPr>
        <p:txBody>
          <a:bodyPr wrap="square">
            <a:spAutoFit/>
          </a:bodyPr>
          <a:lstStyle/>
          <a:p>
            <a:pPr algn="ctr"/>
            <a:r>
              <a:rPr sz="2200" b="0" i="0">
                <a:solidFill>
                  <a:srgbClr val="FFFFFF"/>
                </a:solidFill>
                <a:latin typeface="メイリオ"/>
              </a:rPr>
              <a:t>💬</a:t>
            </a:r>
          </a:p>
        </p:txBody>
      </p:sp>
      <p:sp>
        <p:nvSpPr>
          <p:cNvPr id="28" name="TextBox 27"/>
          <p:cNvSpPr txBox="1"/>
          <p:nvPr/>
        </p:nvSpPr>
        <p:spPr>
          <a:xfrm>
            <a:off x="5112000" y="6012000"/>
            <a:ext cx="2015999" cy="251999"/>
          </a:xfrm>
          <a:prstGeom prst="rect">
            <a:avLst/>
          </a:prstGeom>
          <a:noFill/>
        </p:spPr>
        <p:txBody>
          <a:bodyPr wrap="square">
            <a:spAutoFit/>
          </a:bodyPr>
          <a:lstStyle/>
          <a:p>
            <a:pPr algn="ctr"/>
            <a:r>
              <a:rPr sz="1000" b="1" i="0">
                <a:solidFill>
                  <a:srgbClr val="FFFFFF"/>
                </a:solidFill>
                <a:latin typeface="メイリオ"/>
              </a:rPr>
              <a:t>P.4</a:t>
            </a:r>
          </a:p>
        </p:txBody>
      </p:sp>
      <p:sp>
        <p:nvSpPr>
          <p:cNvPr id="29" name="TextBox 28"/>
          <p:cNvSpPr txBox="1"/>
          <p:nvPr/>
        </p:nvSpPr>
        <p:spPr>
          <a:xfrm>
            <a:off x="5112000" y="6263999"/>
            <a:ext cx="2015999" cy="720000"/>
          </a:xfrm>
          <a:prstGeom prst="rect">
            <a:avLst/>
          </a:prstGeom>
          <a:noFill/>
        </p:spPr>
        <p:txBody>
          <a:bodyPr wrap="square">
            <a:spAutoFit/>
          </a:bodyPr>
          <a:lstStyle/>
          <a:p>
            <a:pPr algn="ctr"/>
            <a:r>
              <a:rPr sz="1150" b="1" i="0">
                <a:solidFill>
                  <a:srgbClr val="FFFFFF"/>
                </a:solidFill>
                <a:latin typeface="メイリオ"/>
              </a:rPr>
              <a:t>わたしの独り言 &amp;</a:t>
            </a:r>
            <a:br/>
            <a:r>
              <a:t>お誕生日スタッフ</a:t>
            </a:r>
          </a:p>
        </p:txBody>
      </p:sp>
      <p:sp>
        <p:nvSpPr>
          <p:cNvPr id="30" name="Rectangle 29"/>
          <p:cNvSpPr/>
          <p:nvPr/>
        </p:nvSpPr>
        <p:spPr>
          <a:xfrm>
            <a:off x="0" y="10080000"/>
            <a:ext cx="7560000" cy="612000"/>
          </a:xfrm>
          <a:prstGeom prst="rect">
            <a:avLst/>
          </a:prstGeom>
          <a:solidFill>
            <a:srgbClr val="0F5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0000" y="10134000"/>
            <a:ext cx="7200000" cy="270000"/>
          </a:xfrm>
          <a:prstGeom prst="rect">
            <a:avLst/>
          </a:prstGeom>
          <a:noFill/>
        </p:spPr>
        <p:txBody>
          <a:bodyPr wrap="square">
            <a:spAutoFit/>
          </a:bodyPr>
          <a:lstStyle/>
          <a:p>
            <a:pPr algn="ctr"/>
            <a:r>
              <a:rPr sz="900" b="0" i="0">
                <a:solidFill>
                  <a:srgbClr val="FFFFFF"/>
                </a:solidFill>
                <a:latin typeface="メイリオ"/>
              </a:rPr>
              <a:t>発行：株式会社サンプラザ 総務部　　毎月1日発行</a:t>
            </a:r>
          </a:p>
        </p:txBody>
      </p:sp>
      <p:sp>
        <p:nvSpPr>
          <p:cNvPr id="32" name="TextBox 31"/>
          <p:cNvSpPr txBox="1"/>
          <p:nvPr/>
        </p:nvSpPr>
        <p:spPr>
          <a:xfrm>
            <a:off x="180000" y="10386000"/>
            <a:ext cx="7200000" cy="251999"/>
          </a:xfrm>
          <a:prstGeom prst="rect">
            <a:avLst/>
          </a:prstGeom>
          <a:noFill/>
        </p:spPr>
        <p:txBody>
          <a:bodyPr wrap="square">
            <a:spAutoFit/>
          </a:bodyPr>
          <a:lstStyle/>
          <a:p>
            <a:pPr algn="ctr"/>
            <a:r>
              <a:rPr sz="850" b="0" i="0">
                <a:solidFill>
                  <a:srgbClr val="D8F0E3"/>
                </a:solidFill>
                <a:latin typeface="メイリオ"/>
              </a:rPr>
              <a:t>🌿  投稿はいつでも歓迎！みなさんの笑顔と声がこの社内報を作っています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AF3"/>
        </a:solidFill>
        <a:effectLst/>
      </p:bgPr>
    </p:bg>
    <p:spTree>
      <p:nvGrpSpPr>
        <p:cNvPr id="1" name=""/>
        <p:cNvGrpSpPr/>
        <p:nvPr/>
      </p:nvGrpSpPr>
      <p:grpSpPr/>
      <p:sp>
        <p:nvSpPr>
          <p:cNvPr id="2" name="Rectangle 1"/>
          <p:cNvSpPr/>
          <p:nvPr/>
        </p:nvSpPr>
        <p:spPr>
          <a:xfrm>
            <a:off x="0" y="0"/>
            <a:ext cx="7560000" cy="30600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25200"/>
            <a:ext cx="5400000" cy="259200"/>
          </a:xfrm>
          <a:prstGeom prst="rect">
            <a:avLst/>
          </a:prstGeom>
          <a:noFill/>
        </p:spPr>
        <p:txBody>
          <a:bodyPr wrap="square">
            <a:spAutoFit/>
          </a:bodyPr>
          <a:lstStyle/>
          <a:p>
            <a:pPr algn="l"/>
            <a:r>
              <a:rPr sz="900" b="0" i="0">
                <a:solidFill>
                  <a:srgbClr val="FFFFFF"/>
                </a:solidFill>
                <a:latin typeface="メイリオ"/>
              </a:rPr>
              <a:t>🌿  サンプラザ ひだまり通信  創刊号  2026年6月</a:t>
            </a:r>
          </a:p>
        </p:txBody>
      </p:sp>
      <p:sp>
        <p:nvSpPr>
          <p:cNvPr id="4" name="TextBox 3"/>
          <p:cNvSpPr txBox="1"/>
          <p:nvPr/>
        </p:nvSpPr>
        <p:spPr>
          <a:xfrm>
            <a:off x="5940000" y="25200"/>
            <a:ext cx="1440000" cy="259200"/>
          </a:xfrm>
          <a:prstGeom prst="rect">
            <a:avLst/>
          </a:prstGeom>
          <a:noFill/>
        </p:spPr>
        <p:txBody>
          <a:bodyPr wrap="square">
            <a:spAutoFit/>
          </a:bodyPr>
          <a:lstStyle/>
          <a:p>
            <a:pPr algn="r"/>
            <a:r>
              <a:rPr sz="1000" b="1" i="0">
                <a:solidFill>
                  <a:srgbClr val="FFFFFF"/>
                </a:solidFill>
                <a:latin typeface="メイリオ"/>
              </a:rPr>
              <a:t>P.2</a:t>
            </a:r>
          </a:p>
        </p:txBody>
      </p:sp>
      <p:sp>
        <p:nvSpPr>
          <p:cNvPr id="5" name="Rounded Rectangle 4"/>
          <p:cNvSpPr/>
          <p:nvPr/>
        </p:nvSpPr>
        <p:spPr>
          <a:xfrm>
            <a:off x="251999" y="396000"/>
            <a:ext cx="7056000" cy="413999"/>
          </a:xfrm>
          <a:prstGeom prst="roundRect">
            <a:avLst>
              <a:gd name="adj" fmla="val 4000"/>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41999" y="432000"/>
            <a:ext cx="341999" cy="341999"/>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99" y="414000"/>
            <a:ext cx="413999" cy="377999"/>
          </a:xfrm>
          <a:prstGeom prst="rect">
            <a:avLst/>
          </a:prstGeom>
          <a:noFill/>
        </p:spPr>
        <p:txBody>
          <a:bodyPr wrap="square">
            <a:spAutoFit/>
          </a:bodyPr>
          <a:lstStyle/>
          <a:p>
            <a:pPr algn="ctr"/>
            <a:r>
              <a:rPr sz="1400" b="0" i="0">
                <a:solidFill>
                  <a:srgbClr val="2C2C2C"/>
                </a:solidFill>
                <a:latin typeface="メイリオ"/>
              </a:rPr>
              <a:t>🏆</a:t>
            </a:r>
          </a:p>
        </p:txBody>
      </p:sp>
      <p:sp>
        <p:nvSpPr>
          <p:cNvPr id="8" name="TextBox 7"/>
          <p:cNvSpPr txBox="1"/>
          <p:nvPr/>
        </p:nvSpPr>
        <p:spPr>
          <a:xfrm>
            <a:off x="773998" y="432000"/>
            <a:ext cx="6462001" cy="341999"/>
          </a:xfrm>
          <a:prstGeom prst="rect">
            <a:avLst/>
          </a:prstGeom>
          <a:noFill/>
        </p:spPr>
        <p:txBody>
          <a:bodyPr wrap="square">
            <a:spAutoFit/>
          </a:bodyPr>
          <a:lstStyle/>
          <a:p>
            <a:pPr algn="l"/>
            <a:r>
              <a:rPr sz="1300" b="1" i="0">
                <a:solidFill>
                  <a:srgbClr val="FFFFFF"/>
                </a:solidFill>
                <a:latin typeface="メイリオ"/>
              </a:rPr>
              <a:t>〇〇店の職場自慢！</a:t>
            </a:r>
          </a:p>
        </p:txBody>
      </p:sp>
      <p:sp>
        <p:nvSpPr>
          <p:cNvPr id="9" name="Rounded Rectangle 8"/>
          <p:cNvSpPr/>
          <p:nvPr/>
        </p:nvSpPr>
        <p:spPr>
          <a:xfrm>
            <a:off x="251999" y="882000"/>
            <a:ext cx="7056000" cy="270000"/>
          </a:xfrm>
          <a:prstGeom prst="roundRect">
            <a:avLst>
              <a:gd name="adj" fmla="val 5000"/>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892800"/>
            <a:ext cx="6840000" cy="244800"/>
          </a:xfrm>
          <a:prstGeom prst="rect">
            <a:avLst/>
          </a:prstGeom>
          <a:noFill/>
        </p:spPr>
        <p:txBody>
          <a:bodyPr wrap="square">
            <a:spAutoFit/>
          </a:bodyPr>
          <a:lstStyle/>
          <a:p>
            <a:pPr algn="l"/>
            <a:r>
              <a:rPr sz="1050" b="1" i="0">
                <a:solidFill>
                  <a:srgbClr val="0F5228"/>
                </a:solidFill>
                <a:latin typeface="メイリオ"/>
              </a:rPr>
              <a:t>今月の店 ▶  堺東駅前店  「みんなで葛城山ハイキング！」</a:t>
            </a:r>
          </a:p>
        </p:txBody>
      </p:sp>
      <p:sp>
        <p:nvSpPr>
          <p:cNvPr id="11" name="Rectangle 10"/>
          <p:cNvSpPr/>
          <p:nvPr/>
        </p:nvSpPr>
        <p:spPr>
          <a:xfrm>
            <a:off x="251999" y="1206000"/>
            <a:ext cx="3348000" cy="1872000"/>
          </a:xfrm>
          <a:prstGeom prst="rect">
            <a:avLst/>
          </a:prstGeom>
          <a:solidFill>
            <a:srgbClr val="F0F0F0"/>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1926000"/>
            <a:ext cx="3348000" cy="432000"/>
          </a:xfrm>
          <a:prstGeom prst="rect">
            <a:avLst/>
          </a:prstGeom>
          <a:noFill/>
        </p:spPr>
        <p:txBody>
          <a:bodyPr wrap="square">
            <a:spAutoFit/>
          </a:bodyPr>
          <a:lstStyle/>
          <a:p>
            <a:pPr algn="ctr"/>
            <a:r>
              <a:rPr sz="850" b="0" i="0">
                <a:solidFill>
                  <a:srgbClr val="888888"/>
                </a:solidFill>
                <a:latin typeface="メイリオ"/>
              </a:rPr>
              <a:t>📷</a:t>
            </a:r>
            <a:br/>
            <a:r>
              <a:t>登山道でのスタッフ集合写真</a:t>
            </a:r>
          </a:p>
        </p:txBody>
      </p:sp>
      <p:sp>
        <p:nvSpPr>
          <p:cNvPr id="13" name="Rectangle 12"/>
          <p:cNvSpPr/>
          <p:nvPr/>
        </p:nvSpPr>
        <p:spPr>
          <a:xfrm>
            <a:off x="3744000" y="1206000"/>
            <a:ext cx="3456000" cy="1872000"/>
          </a:xfrm>
          <a:prstGeom prst="rect">
            <a:avLst/>
          </a:prstGeom>
          <a:solidFill>
            <a:srgbClr val="F0F0F0"/>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4000" y="1926000"/>
            <a:ext cx="3456000" cy="432000"/>
          </a:xfrm>
          <a:prstGeom prst="rect">
            <a:avLst/>
          </a:prstGeom>
          <a:noFill/>
        </p:spPr>
        <p:txBody>
          <a:bodyPr wrap="square">
            <a:spAutoFit/>
          </a:bodyPr>
          <a:lstStyle/>
          <a:p>
            <a:pPr algn="ctr"/>
            <a:r>
              <a:rPr sz="850" b="0" i="0">
                <a:solidFill>
                  <a:srgbClr val="888888"/>
                </a:solidFill>
                <a:latin typeface="メイリオ"/>
              </a:rPr>
              <a:t>📷</a:t>
            </a:r>
            <a:br/>
            <a:r>
              <a:t>山頂でのランチタイム風景</a:t>
            </a:r>
          </a:p>
        </p:txBody>
      </p:sp>
      <p:sp>
        <p:nvSpPr>
          <p:cNvPr id="15" name="TextBox 14"/>
          <p:cNvSpPr txBox="1"/>
          <p:nvPr/>
        </p:nvSpPr>
        <p:spPr>
          <a:xfrm>
            <a:off x="251999" y="3131999"/>
            <a:ext cx="7056000" cy="1800000"/>
          </a:xfrm>
          <a:prstGeom prst="rect">
            <a:avLst/>
          </a:prstGeom>
          <a:noFill/>
        </p:spPr>
        <p:txBody>
          <a:bodyPr wrap="square">
            <a:spAutoFit/>
          </a:bodyPr>
          <a:lstStyle/>
          <a:p>
            <a:pPr algn="l"/>
            <a:r>
              <a:rPr sz="950" b="0">
                <a:solidFill>
                  <a:srgbClr val="2C2C2C"/>
                </a:solidFill>
                <a:latin typeface="メイリオ"/>
              </a:rPr>
              <a:t>　先月の日曜日、堺東駅前店のスタッフ22名が葛城山（標高959m）への</a:t>
            </a:r>
          </a:p>
          <a:p>
            <a:pPr algn="l"/>
            <a:r>
              <a:rPr sz="950" b="0">
                <a:solidFill>
                  <a:srgbClr val="2C2C2C"/>
                </a:solidFill>
                <a:latin typeface="メイリオ"/>
              </a:rPr>
              <a:t>日帰りハイキングを敢行しました！</a:t>
            </a:r>
          </a:p>
          <a:p>
            <a:pPr algn="l"/>
            <a:r>
              <a:rPr sz="950" b="0">
                <a:solidFill>
                  <a:srgbClr val="2C2C2C"/>
                </a:solidFill>
                <a:latin typeface="メイリオ"/>
              </a:rPr>
              <a:t/>
            </a:r>
          </a:p>
          <a:p>
            <a:pPr algn="l"/>
            <a:r>
              <a:rPr sz="950" b="0">
                <a:solidFill>
                  <a:srgbClr val="2C2C2C"/>
                </a:solidFill>
                <a:latin typeface="メイリオ"/>
              </a:rPr>
              <a:t>　早朝7時、近鉄・富田林駅に集合。ロープウェイは使わず、登山道を</a:t>
            </a:r>
          </a:p>
          <a:p>
            <a:pPr algn="l"/>
            <a:r>
              <a:rPr sz="950" b="0">
                <a:solidFill>
                  <a:srgbClr val="2C2C2C"/>
                </a:solidFill>
                <a:latin typeface="メイリオ"/>
              </a:rPr>
              <a:t>徒歩でひたすら登ること2時間。途中、「山歩きが10年来の趣味！」と</a:t>
            </a:r>
          </a:p>
          <a:p>
            <a:pPr algn="l"/>
            <a:r>
              <a:rPr sz="950" b="0">
                <a:solidFill>
                  <a:srgbClr val="2C2C2C"/>
                </a:solidFill>
                <a:latin typeface="メイリオ"/>
              </a:rPr>
              <a:t>いうパートの荒木さん（67歳）が若手スタッフをスイスイ追い抜く場面</a:t>
            </a:r>
          </a:p>
          <a:p>
            <a:pPr algn="l"/>
            <a:r>
              <a:rPr sz="950" b="0">
                <a:solidFill>
                  <a:srgbClr val="2C2C2C"/>
                </a:solidFill>
                <a:latin typeface="メイリオ"/>
              </a:rPr>
              <a:t>に一同大爆笑！</a:t>
            </a:r>
          </a:p>
          <a:p>
            <a:pPr algn="l"/>
            <a:r>
              <a:rPr sz="950" b="0">
                <a:solidFill>
                  <a:srgbClr val="2C2C2C"/>
                </a:solidFill>
                <a:latin typeface="メイリオ"/>
              </a:rPr>
              <a:t/>
            </a:r>
          </a:p>
          <a:p>
            <a:pPr algn="l"/>
            <a:r>
              <a:rPr sz="950" b="0">
                <a:solidFill>
                  <a:srgbClr val="2C2C2C"/>
                </a:solidFill>
                <a:latin typeface="メイリオ"/>
              </a:rPr>
              <a:t>　山頂では副店長の村田さんが手作りのおにぎり20個を振る舞い、大好</a:t>
            </a:r>
          </a:p>
          <a:p>
            <a:pPr algn="l"/>
            <a:r>
              <a:rPr sz="950" b="0">
                <a:solidFill>
                  <a:srgbClr val="2C2C2C"/>
                </a:solidFill>
                <a:latin typeface="メイリオ"/>
              </a:rPr>
              <a:t>評。下山後は富田林の居酒屋で打ち上げ。「次は金剛山に挑戦しよう！」</a:t>
            </a:r>
          </a:p>
          <a:p>
            <a:pPr algn="l"/>
            <a:r>
              <a:rPr sz="950" b="0">
                <a:solidFill>
                  <a:srgbClr val="2C2C2C"/>
                </a:solidFill>
                <a:latin typeface="メイリオ"/>
              </a:rPr>
              <a:t>と早くも次回の計画が持ち上がっています。</a:t>
            </a:r>
          </a:p>
          <a:p>
            <a:pPr algn="l"/>
            <a:r>
              <a:rPr sz="950" b="0">
                <a:solidFill>
                  <a:srgbClr val="2C2C2C"/>
                </a:solidFill>
                <a:latin typeface="メイリオ"/>
              </a:rPr>
              <a:t/>
            </a:r>
          </a:p>
          <a:p>
            <a:pPr algn="l"/>
            <a:r>
              <a:rPr sz="950" b="0">
                <a:solidFill>
                  <a:srgbClr val="2C2C2C"/>
                </a:solidFill>
                <a:latin typeface="メイリオ"/>
              </a:rPr>
              <a:t>店長・西川さん談：「普段なかなか話せないスタッフ同士が仲よくなれ</a:t>
            </a:r>
          </a:p>
          <a:p>
            <a:pPr algn="l"/>
            <a:r>
              <a:rPr sz="950" b="0">
                <a:solidFill>
                  <a:srgbClr val="2C2C2C"/>
                </a:solidFill>
                <a:latin typeface="メイリオ"/>
              </a:rPr>
              <a:t>る最高の機会でした。来年も必ず行きます！」</a:t>
            </a:r>
          </a:p>
        </p:txBody>
      </p:sp>
      <p:sp>
        <p:nvSpPr>
          <p:cNvPr id="16" name="Rectangle 15"/>
          <p:cNvSpPr/>
          <p:nvPr/>
        </p:nvSpPr>
        <p:spPr>
          <a:xfrm>
            <a:off x="288000" y="5148000"/>
            <a:ext cx="6983999" cy="21600"/>
          </a:xfrm>
          <a:prstGeom prst="rect">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0000" y="5058000"/>
            <a:ext cx="720000" cy="180000"/>
          </a:xfrm>
          <a:prstGeom prst="rect">
            <a:avLst/>
          </a:prstGeom>
          <a:noFill/>
        </p:spPr>
        <p:txBody>
          <a:bodyPr wrap="square">
            <a:spAutoFit/>
          </a:bodyPr>
          <a:lstStyle/>
          <a:p>
            <a:pPr algn="ctr"/>
            <a:r>
              <a:rPr sz="1000" b="0" i="0">
                <a:solidFill>
                  <a:srgbClr val="1A7A3C"/>
                </a:solidFill>
                <a:latin typeface="メイリオ"/>
              </a:rPr>
              <a:t>✦</a:t>
            </a:r>
          </a:p>
        </p:txBody>
      </p:sp>
      <p:sp>
        <p:nvSpPr>
          <p:cNvPr id="18" name="Rounded Rectangle 17"/>
          <p:cNvSpPr/>
          <p:nvPr/>
        </p:nvSpPr>
        <p:spPr>
          <a:xfrm>
            <a:off x="251999" y="5238000"/>
            <a:ext cx="7056000" cy="413999"/>
          </a:xfrm>
          <a:prstGeom prst="roundRect">
            <a:avLst>
              <a:gd name="adj" fmla="val 4000"/>
            </a:avLst>
          </a:prstGeom>
          <a:solidFill>
            <a:srgbClr val="F48F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1999" y="5274000"/>
            <a:ext cx="341999" cy="341999"/>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3999" y="5256000"/>
            <a:ext cx="413999" cy="377999"/>
          </a:xfrm>
          <a:prstGeom prst="rect">
            <a:avLst/>
          </a:prstGeom>
          <a:noFill/>
        </p:spPr>
        <p:txBody>
          <a:bodyPr wrap="square">
            <a:spAutoFit/>
          </a:bodyPr>
          <a:lstStyle/>
          <a:p>
            <a:pPr algn="ctr"/>
            <a:r>
              <a:rPr sz="1400" b="0" i="0">
                <a:solidFill>
                  <a:srgbClr val="2C2C2C"/>
                </a:solidFill>
                <a:latin typeface="メイリオ"/>
              </a:rPr>
              <a:t>💬</a:t>
            </a:r>
          </a:p>
        </p:txBody>
      </p:sp>
      <p:sp>
        <p:nvSpPr>
          <p:cNvPr id="21" name="TextBox 20"/>
          <p:cNvSpPr txBox="1"/>
          <p:nvPr/>
        </p:nvSpPr>
        <p:spPr>
          <a:xfrm>
            <a:off x="773998" y="5274000"/>
            <a:ext cx="6462001" cy="341999"/>
          </a:xfrm>
          <a:prstGeom prst="rect">
            <a:avLst/>
          </a:prstGeom>
          <a:noFill/>
        </p:spPr>
        <p:txBody>
          <a:bodyPr wrap="square">
            <a:spAutoFit/>
          </a:bodyPr>
          <a:lstStyle/>
          <a:p>
            <a:pPr algn="l"/>
            <a:r>
              <a:rPr sz="1300" b="1" i="0">
                <a:solidFill>
                  <a:srgbClr val="FFFFFF"/>
                </a:solidFill>
                <a:latin typeface="メイリオ"/>
              </a:rPr>
              <a:t>わたしの独り言</a:t>
            </a:r>
          </a:p>
        </p:txBody>
      </p:sp>
      <p:sp>
        <p:nvSpPr>
          <p:cNvPr id="22" name="TextBox 21"/>
          <p:cNvSpPr txBox="1"/>
          <p:nvPr/>
        </p:nvSpPr>
        <p:spPr>
          <a:xfrm>
            <a:off x="773998" y="5465699"/>
            <a:ext cx="6462001" cy="206999"/>
          </a:xfrm>
          <a:prstGeom prst="rect">
            <a:avLst/>
          </a:prstGeom>
          <a:noFill/>
        </p:spPr>
        <p:txBody>
          <a:bodyPr wrap="square">
            <a:spAutoFit/>
          </a:bodyPr>
          <a:lstStyle/>
          <a:p>
            <a:pPr algn="l"/>
            <a:r>
              <a:rPr sz="850" b="0" i="1">
                <a:solidFill>
                  <a:srgbClr val="FFFFFF"/>
                </a:solidFill>
                <a:latin typeface="メイリオ"/>
              </a:rPr>
              <a:t>三日市駅前店  青山 恵子さん（パート歴11年）</a:t>
            </a:r>
          </a:p>
        </p:txBody>
      </p:sp>
      <p:sp>
        <p:nvSpPr>
          <p:cNvPr id="23" name="Rectangle 22"/>
          <p:cNvSpPr/>
          <p:nvPr/>
        </p:nvSpPr>
        <p:spPr>
          <a:xfrm>
            <a:off x="5220000" y="5724000"/>
            <a:ext cx="2088000" cy="1620000"/>
          </a:xfrm>
          <a:prstGeom prst="rect">
            <a:avLst/>
          </a:prstGeom>
          <a:solidFill>
            <a:srgbClr val="F0F0F0"/>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20000" y="6318000"/>
            <a:ext cx="2088000" cy="432000"/>
          </a:xfrm>
          <a:prstGeom prst="rect">
            <a:avLst/>
          </a:prstGeom>
          <a:noFill/>
        </p:spPr>
        <p:txBody>
          <a:bodyPr wrap="square">
            <a:spAutoFit/>
          </a:bodyPr>
          <a:lstStyle/>
          <a:p>
            <a:pPr algn="ctr"/>
            <a:r>
              <a:rPr sz="850" b="0" i="0">
                <a:solidFill>
                  <a:srgbClr val="888888"/>
                </a:solidFill>
                <a:latin typeface="メイリオ"/>
              </a:rPr>
              <a:t>📷</a:t>
            </a:r>
            <a:br/>
            <a:r>
              <a:t>青山さん</a:t>
            </a:r>
          </a:p>
        </p:txBody>
      </p:sp>
      <p:sp>
        <p:nvSpPr>
          <p:cNvPr id="25" name="Rounded Rectangle 24"/>
          <p:cNvSpPr/>
          <p:nvPr/>
        </p:nvSpPr>
        <p:spPr>
          <a:xfrm>
            <a:off x="251999" y="5724000"/>
            <a:ext cx="4824000" cy="1620000"/>
          </a:xfrm>
          <a:prstGeom prst="roundRect">
            <a:avLst>
              <a:gd name="adj" fmla="val 6000"/>
            </a:avLst>
          </a:prstGeom>
          <a:solidFill>
            <a:srgbClr val="FD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0000" y="5796000"/>
            <a:ext cx="4608000" cy="1512000"/>
          </a:xfrm>
          <a:prstGeom prst="rect">
            <a:avLst/>
          </a:prstGeom>
          <a:noFill/>
        </p:spPr>
        <p:txBody>
          <a:bodyPr wrap="square">
            <a:spAutoFit/>
          </a:bodyPr>
          <a:lstStyle/>
          <a:p>
            <a:pPr algn="l"/>
            <a:r>
              <a:rPr sz="950" b="0">
                <a:solidFill>
                  <a:srgbClr val="2C2C2C"/>
                </a:solidFill>
                <a:latin typeface="メイリオ"/>
              </a:rPr>
              <a:t>　うちのお店に、もう10年以上毎朝いらっしゃるお客様がいます。</a:t>
            </a:r>
          </a:p>
          <a:p>
            <a:pPr algn="l"/>
            <a:r>
              <a:rPr sz="950" b="0">
                <a:solidFill>
                  <a:srgbClr val="2C2C2C"/>
                </a:solidFill>
                <a:latin typeface="メイリオ"/>
              </a:rPr>
              <a:t>いつも必ず「お茶漬けのり」と「わかめスープ」を買って帰られます。</a:t>
            </a:r>
          </a:p>
          <a:p>
            <a:pPr algn="l"/>
            <a:r>
              <a:rPr sz="950" b="0">
                <a:solidFill>
                  <a:srgbClr val="2C2C2C"/>
                </a:solidFill>
                <a:latin typeface="メイリオ"/>
              </a:rPr>
              <a:t/>
            </a:r>
          </a:p>
          <a:p>
            <a:pPr algn="l"/>
            <a:r>
              <a:rPr sz="950" b="0">
                <a:solidFill>
                  <a:srgbClr val="2C2C2C"/>
                </a:solidFill>
                <a:latin typeface="メイリオ"/>
              </a:rPr>
              <a:t>　先日、そのお客様が珍しそうにお惣菜コーナーをながめておら</a:t>
            </a:r>
          </a:p>
          <a:p>
            <a:pPr algn="l"/>
            <a:r>
              <a:rPr sz="950" b="0">
                <a:solidFill>
                  <a:srgbClr val="2C2C2C"/>
                </a:solidFill>
                <a:latin typeface="メイリオ"/>
              </a:rPr>
              <a:t>れたので声をかけると、「今日は家内の誕生日なんや。何か喜ぶ</a:t>
            </a:r>
          </a:p>
          <a:p>
            <a:pPr algn="l"/>
            <a:r>
              <a:rPr sz="950" b="0">
                <a:solidFill>
                  <a:srgbClr val="2C2C2C"/>
                </a:solidFill>
                <a:latin typeface="メイリオ"/>
              </a:rPr>
              <a:t>もんないかな」とはにかんでおられました。</a:t>
            </a:r>
          </a:p>
          <a:p>
            <a:pPr algn="l"/>
            <a:r>
              <a:rPr sz="950" b="0">
                <a:solidFill>
                  <a:srgbClr val="2C2C2C"/>
                </a:solidFill>
                <a:latin typeface="メイリオ"/>
              </a:rPr>
              <a:t/>
            </a:r>
          </a:p>
          <a:p>
            <a:pPr algn="l"/>
            <a:r>
              <a:rPr sz="950" b="0">
                <a:solidFill>
                  <a:srgbClr val="2C2C2C"/>
                </a:solidFill>
                <a:latin typeface="メイリオ"/>
              </a:rPr>
              <a:t>　一緒にプリンとお刺身を選んで「ラッピングしてもらえますか」</a:t>
            </a:r>
          </a:p>
          <a:p>
            <a:pPr algn="l"/>
            <a:r>
              <a:rPr sz="950" b="0">
                <a:solidFill>
                  <a:srgbClr val="2C2C2C"/>
                </a:solidFill>
                <a:latin typeface="メイリオ"/>
              </a:rPr>
              <a:t>と。そのひとことにジーンとしてしまいました。長年連れ添った</a:t>
            </a:r>
          </a:p>
          <a:p>
            <a:pPr algn="l"/>
            <a:r>
              <a:rPr sz="950" b="0">
                <a:solidFill>
                  <a:srgbClr val="2C2C2C"/>
                </a:solidFill>
                <a:latin typeface="メイリオ"/>
              </a:rPr>
              <a:t>奥様を大切にされている姿が、なんとも素敵で……。</a:t>
            </a:r>
          </a:p>
          <a:p>
            <a:pPr algn="l"/>
            <a:r>
              <a:rPr sz="950" b="0">
                <a:solidFill>
                  <a:srgbClr val="2C2C2C"/>
                </a:solidFill>
                <a:latin typeface="メイリオ"/>
              </a:rPr>
              <a:t>この仕事が好きになった瞬間でした。</a:t>
            </a:r>
          </a:p>
        </p:txBody>
      </p:sp>
      <p:sp>
        <p:nvSpPr>
          <p:cNvPr id="27" name="Rectangle 26"/>
          <p:cNvSpPr/>
          <p:nvPr/>
        </p:nvSpPr>
        <p:spPr>
          <a:xfrm>
            <a:off x="0" y="10440000"/>
            <a:ext cx="7560000" cy="251999"/>
          </a:xfrm>
          <a:prstGeom prst="rect">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0000" y="10458000"/>
            <a:ext cx="7200000" cy="223200"/>
          </a:xfrm>
          <a:prstGeom prst="rect">
            <a:avLst/>
          </a:prstGeom>
          <a:noFill/>
        </p:spPr>
        <p:txBody>
          <a:bodyPr wrap="square">
            <a:spAutoFit/>
          </a:bodyPr>
          <a:lstStyle/>
          <a:p>
            <a:pPr algn="ctr"/>
            <a:r>
              <a:rPr sz="850" b="0" i="0">
                <a:solidFill>
                  <a:srgbClr val="0F5228"/>
                </a:solidFill>
                <a:latin typeface="メイリオ"/>
              </a:rPr>
              <a:t>🌿  あなたの「ほっこりエピソード」もぜひ投稿してください！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AF3"/>
        </a:solidFill>
        <a:effectLst/>
      </p:bgPr>
    </p:bg>
    <p:spTree>
      <p:nvGrpSpPr>
        <p:cNvPr id="1" name=""/>
        <p:cNvGrpSpPr/>
        <p:nvPr/>
      </p:nvGrpSpPr>
      <p:grpSpPr/>
      <p:sp>
        <p:nvSpPr>
          <p:cNvPr id="2" name="Rectangle 1"/>
          <p:cNvSpPr/>
          <p:nvPr/>
        </p:nvSpPr>
        <p:spPr>
          <a:xfrm>
            <a:off x="0" y="0"/>
            <a:ext cx="7560000" cy="30600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25200"/>
            <a:ext cx="5400000" cy="259200"/>
          </a:xfrm>
          <a:prstGeom prst="rect">
            <a:avLst/>
          </a:prstGeom>
          <a:noFill/>
        </p:spPr>
        <p:txBody>
          <a:bodyPr wrap="square">
            <a:spAutoFit/>
          </a:bodyPr>
          <a:lstStyle/>
          <a:p>
            <a:pPr algn="l"/>
            <a:r>
              <a:rPr sz="900" b="0" i="0">
                <a:solidFill>
                  <a:srgbClr val="FFFFFF"/>
                </a:solidFill>
                <a:latin typeface="メイリオ"/>
              </a:rPr>
              <a:t>🌿  サンプラザ ひだまり通信  創刊号  2026年6月</a:t>
            </a:r>
          </a:p>
        </p:txBody>
      </p:sp>
      <p:sp>
        <p:nvSpPr>
          <p:cNvPr id="4" name="TextBox 3"/>
          <p:cNvSpPr txBox="1"/>
          <p:nvPr/>
        </p:nvSpPr>
        <p:spPr>
          <a:xfrm>
            <a:off x="5940000" y="25200"/>
            <a:ext cx="1440000" cy="259200"/>
          </a:xfrm>
          <a:prstGeom prst="rect">
            <a:avLst/>
          </a:prstGeom>
          <a:noFill/>
        </p:spPr>
        <p:txBody>
          <a:bodyPr wrap="square">
            <a:spAutoFit/>
          </a:bodyPr>
          <a:lstStyle/>
          <a:p>
            <a:pPr algn="r"/>
            <a:r>
              <a:rPr sz="1000" b="1" i="0">
                <a:solidFill>
                  <a:srgbClr val="FFFFFF"/>
                </a:solidFill>
                <a:latin typeface="メイリオ"/>
              </a:rPr>
              <a:t>P.3</a:t>
            </a:r>
          </a:p>
        </p:txBody>
      </p:sp>
      <p:sp>
        <p:nvSpPr>
          <p:cNvPr id="5" name="Rounded Rectangle 4"/>
          <p:cNvSpPr/>
          <p:nvPr/>
        </p:nvSpPr>
        <p:spPr>
          <a:xfrm>
            <a:off x="251999" y="396000"/>
            <a:ext cx="7056000" cy="413999"/>
          </a:xfrm>
          <a:prstGeom prst="roundRect">
            <a:avLst>
              <a:gd name="adj" fmla="val 4000"/>
            </a:avLst>
          </a:prstGeom>
          <a:solidFill>
            <a:srgbClr val="FFAB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41999" y="432000"/>
            <a:ext cx="341999" cy="341999"/>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99" y="414000"/>
            <a:ext cx="413999" cy="377999"/>
          </a:xfrm>
          <a:prstGeom prst="rect">
            <a:avLst/>
          </a:prstGeom>
          <a:noFill/>
        </p:spPr>
        <p:txBody>
          <a:bodyPr wrap="square">
            <a:spAutoFit/>
          </a:bodyPr>
          <a:lstStyle/>
          <a:p>
            <a:pPr algn="ctr"/>
            <a:r>
              <a:rPr sz="1400" b="0" i="0">
                <a:solidFill>
                  <a:srgbClr val="2C2C2C"/>
                </a:solidFill>
                <a:latin typeface="メイリオ"/>
              </a:rPr>
              <a:t>🍳</a:t>
            </a:r>
          </a:p>
        </p:txBody>
      </p:sp>
      <p:sp>
        <p:nvSpPr>
          <p:cNvPr id="8" name="TextBox 7"/>
          <p:cNvSpPr txBox="1"/>
          <p:nvPr/>
        </p:nvSpPr>
        <p:spPr>
          <a:xfrm>
            <a:off x="773998" y="432000"/>
            <a:ext cx="6462001" cy="341999"/>
          </a:xfrm>
          <a:prstGeom prst="rect">
            <a:avLst/>
          </a:prstGeom>
          <a:noFill/>
        </p:spPr>
        <p:txBody>
          <a:bodyPr wrap="square">
            <a:spAutoFit/>
          </a:bodyPr>
          <a:lstStyle/>
          <a:p>
            <a:pPr algn="l"/>
            <a:r>
              <a:rPr sz="1300" b="1" i="0">
                <a:solidFill>
                  <a:srgbClr val="FFFFFF"/>
                </a:solidFill>
                <a:latin typeface="メイリオ"/>
              </a:rPr>
              <a:t>サンプラザ商品でアレンジレシピ！</a:t>
            </a:r>
          </a:p>
        </p:txBody>
      </p:sp>
      <p:sp>
        <p:nvSpPr>
          <p:cNvPr id="9" name="Rounded Rectangle 8"/>
          <p:cNvSpPr/>
          <p:nvPr/>
        </p:nvSpPr>
        <p:spPr>
          <a:xfrm>
            <a:off x="251999" y="882000"/>
            <a:ext cx="7056000" cy="270000"/>
          </a:xfrm>
          <a:prstGeom prst="roundRect">
            <a:avLst>
              <a:gd name="adj" fmla="val 5000"/>
            </a:avLst>
          </a:prstGeom>
          <a:solidFill>
            <a:srgbClr val="FFE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892800"/>
            <a:ext cx="6840000" cy="244800"/>
          </a:xfrm>
          <a:prstGeom prst="rect">
            <a:avLst/>
          </a:prstGeom>
          <a:noFill/>
        </p:spPr>
        <p:txBody>
          <a:bodyPr wrap="square">
            <a:spAutoFit/>
          </a:bodyPr>
          <a:lstStyle/>
          <a:p>
            <a:pPr algn="l"/>
            <a:r>
              <a:rPr sz="1050" b="1" i="0">
                <a:solidFill>
                  <a:srgbClr val="FFAB76"/>
                </a:solidFill>
                <a:latin typeface="メイリオ"/>
              </a:rPr>
              <a:t>使用商品 ▶  お惣菜「鶏の唐揚げ（にんにく醤油）」</a:t>
            </a:r>
          </a:p>
        </p:txBody>
      </p:sp>
      <p:sp>
        <p:nvSpPr>
          <p:cNvPr id="11" name="TextBox 10"/>
          <p:cNvSpPr txBox="1"/>
          <p:nvPr/>
        </p:nvSpPr>
        <p:spPr>
          <a:xfrm>
            <a:off x="251999" y="1206000"/>
            <a:ext cx="7056000" cy="360000"/>
          </a:xfrm>
          <a:prstGeom prst="rect">
            <a:avLst/>
          </a:prstGeom>
          <a:noFill/>
        </p:spPr>
        <p:txBody>
          <a:bodyPr wrap="square">
            <a:spAutoFit/>
          </a:bodyPr>
          <a:lstStyle/>
          <a:p>
            <a:pPr algn="l"/>
            <a:r>
              <a:rPr sz="1700" b="1" i="0">
                <a:solidFill>
                  <a:srgbClr val="0F5228"/>
                </a:solidFill>
                <a:latin typeface="メイリオ"/>
              </a:rPr>
              <a:t>唐揚げで作る！ふわとろ親子丼</a:t>
            </a:r>
          </a:p>
        </p:txBody>
      </p:sp>
      <p:sp>
        <p:nvSpPr>
          <p:cNvPr id="12" name="TextBox 11"/>
          <p:cNvSpPr txBox="1"/>
          <p:nvPr/>
        </p:nvSpPr>
        <p:spPr>
          <a:xfrm>
            <a:off x="251999" y="1530000"/>
            <a:ext cx="7056000" cy="234000"/>
          </a:xfrm>
          <a:prstGeom prst="rect">
            <a:avLst/>
          </a:prstGeom>
          <a:noFill/>
        </p:spPr>
        <p:txBody>
          <a:bodyPr wrap="square">
            <a:spAutoFit/>
          </a:bodyPr>
          <a:lstStyle/>
          <a:p>
            <a:pPr algn="l"/>
            <a:r>
              <a:rPr sz="900" b="0" i="1">
                <a:solidFill>
                  <a:srgbClr val="888888"/>
                </a:solidFill>
                <a:latin typeface="メイリオ"/>
              </a:rPr>
              <a:t>時短10分  ✦  2人分  ✦  サンプラザの唐揚げがごちそう丼に早変わり！</a:t>
            </a:r>
          </a:p>
        </p:txBody>
      </p:sp>
      <p:sp>
        <p:nvSpPr>
          <p:cNvPr id="13" name="Rectangle 12"/>
          <p:cNvSpPr/>
          <p:nvPr/>
        </p:nvSpPr>
        <p:spPr>
          <a:xfrm>
            <a:off x="4212000" y="1764000"/>
            <a:ext cx="3096000" cy="1908000"/>
          </a:xfrm>
          <a:prstGeom prst="rect">
            <a:avLst/>
          </a:prstGeom>
          <a:solidFill>
            <a:srgbClr val="F0F0F0"/>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2000" y="2502000"/>
            <a:ext cx="3096000" cy="432000"/>
          </a:xfrm>
          <a:prstGeom prst="rect">
            <a:avLst/>
          </a:prstGeom>
          <a:noFill/>
        </p:spPr>
        <p:txBody>
          <a:bodyPr wrap="square">
            <a:spAutoFit/>
          </a:bodyPr>
          <a:lstStyle/>
          <a:p>
            <a:pPr algn="ctr"/>
            <a:r>
              <a:rPr sz="850" b="0" i="0">
                <a:solidFill>
                  <a:srgbClr val="888888"/>
                </a:solidFill>
                <a:latin typeface="メイリオ"/>
              </a:rPr>
              <a:t>🍲</a:t>
            </a:r>
            <a:br/>
            <a:r>
              <a:t>完成写真</a:t>
            </a:r>
          </a:p>
        </p:txBody>
      </p:sp>
      <p:sp>
        <p:nvSpPr>
          <p:cNvPr id="15" name="Rounded Rectangle 14"/>
          <p:cNvSpPr/>
          <p:nvPr/>
        </p:nvSpPr>
        <p:spPr>
          <a:xfrm>
            <a:off x="251999" y="1764000"/>
            <a:ext cx="3816000" cy="19080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1764000"/>
            <a:ext cx="3816000" cy="216000"/>
          </a:xfrm>
          <a:prstGeom prst="rect">
            <a:avLst/>
          </a:prstGeom>
          <a:solidFill>
            <a:srgbClr val="FFED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764000"/>
            <a:ext cx="3671999" cy="216000"/>
          </a:xfrm>
          <a:prstGeom prst="rect">
            <a:avLst/>
          </a:prstGeom>
          <a:noFill/>
        </p:spPr>
        <p:txBody>
          <a:bodyPr wrap="square">
            <a:spAutoFit/>
          </a:bodyPr>
          <a:lstStyle/>
          <a:p>
            <a:pPr algn="l"/>
            <a:r>
              <a:rPr sz="950" b="1" i="0">
                <a:solidFill>
                  <a:srgbClr val="FFAB76"/>
                </a:solidFill>
                <a:latin typeface="メイリオ"/>
              </a:rPr>
              <a:t>材料（2人分）</a:t>
            </a:r>
          </a:p>
        </p:txBody>
      </p:sp>
      <p:sp>
        <p:nvSpPr>
          <p:cNvPr id="18" name="TextBox 17"/>
          <p:cNvSpPr txBox="1"/>
          <p:nvPr/>
        </p:nvSpPr>
        <p:spPr>
          <a:xfrm>
            <a:off x="324000" y="1998000"/>
            <a:ext cx="3671999" cy="1548000"/>
          </a:xfrm>
          <a:prstGeom prst="rect">
            <a:avLst/>
          </a:prstGeom>
          <a:noFill/>
        </p:spPr>
        <p:txBody>
          <a:bodyPr wrap="square">
            <a:spAutoFit/>
          </a:bodyPr>
          <a:lstStyle/>
          <a:p>
            <a:pPr algn="l"/>
            <a:r>
              <a:rPr sz="950" b="0">
                <a:solidFill>
                  <a:srgbClr val="2C2C2C"/>
                </a:solidFill>
                <a:latin typeface="メイリオ"/>
              </a:rPr>
              <a:t>・唐揚げ（サンプラザ惣菜）  8個</a:t>
            </a:r>
          </a:p>
          <a:p>
            <a:pPr algn="l"/>
            <a:r>
              <a:rPr sz="950" b="0">
                <a:solidFill>
                  <a:srgbClr val="2C2C2C"/>
                </a:solidFill>
                <a:latin typeface="メイリオ"/>
              </a:rPr>
              <a:t>・卵  3個       ・玉ねぎ（小）  1/2個</a:t>
            </a:r>
          </a:p>
          <a:p>
            <a:pPr algn="l"/>
            <a:r>
              <a:rPr sz="950" b="0">
                <a:solidFill>
                  <a:srgbClr val="2C2C2C"/>
                </a:solidFill>
                <a:latin typeface="メイリオ"/>
              </a:rPr>
              <a:t>・だし汁  150ml  ・みりん  大さじ2</a:t>
            </a:r>
          </a:p>
          <a:p>
            <a:pPr algn="l"/>
            <a:r>
              <a:rPr sz="950" b="0">
                <a:solidFill>
                  <a:srgbClr val="2C2C2C"/>
                </a:solidFill>
                <a:latin typeface="メイリオ"/>
              </a:rPr>
              <a:t>・醤油  大さじ1.5  ・砂糖  小さじ1</a:t>
            </a:r>
          </a:p>
          <a:p>
            <a:pPr algn="l"/>
            <a:r>
              <a:rPr sz="950" b="0">
                <a:solidFill>
                  <a:srgbClr val="2C2C2C"/>
                </a:solidFill>
                <a:latin typeface="メイリオ"/>
              </a:rPr>
              <a:t>・ご飯  2膳分   ・三つ葉  少々</a:t>
            </a:r>
          </a:p>
        </p:txBody>
      </p:sp>
      <p:sp>
        <p:nvSpPr>
          <p:cNvPr id="19" name="Rectangle 18"/>
          <p:cNvSpPr/>
          <p:nvPr/>
        </p:nvSpPr>
        <p:spPr>
          <a:xfrm>
            <a:off x="251999" y="3708000"/>
            <a:ext cx="108000" cy="1512000"/>
          </a:xfrm>
          <a:prstGeom prst="rect">
            <a:avLst/>
          </a:prstGeom>
          <a:solidFill>
            <a:srgbClr val="4CA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3708000"/>
            <a:ext cx="6876000" cy="1512000"/>
          </a:xfrm>
          <a:prstGeom prst="rect">
            <a:avLst/>
          </a:prstGeom>
          <a:noFill/>
        </p:spPr>
        <p:txBody>
          <a:bodyPr wrap="square">
            <a:spAutoFit/>
          </a:bodyPr>
          <a:lstStyle/>
          <a:p>
            <a:pPr algn="l"/>
            <a:r>
              <a:rPr sz="950" b="1">
                <a:solidFill>
                  <a:srgbClr val="2C2C2C"/>
                </a:solidFill>
                <a:latin typeface="メイリオ"/>
              </a:rPr>
              <a:t>【作り方】</a:t>
            </a:r>
          </a:p>
          <a:p>
            <a:pPr algn="l"/>
            <a:r>
              <a:rPr sz="950" b="0">
                <a:solidFill>
                  <a:srgbClr val="2C2C2C"/>
                </a:solidFill>
                <a:latin typeface="メイリオ"/>
              </a:rPr>
              <a:t>① 玉ねぎを薄切りに。だし汁・みりん・醤油・砂糖を混ぜておく。</a:t>
            </a:r>
          </a:p>
          <a:p>
            <a:pPr algn="l"/>
            <a:r>
              <a:rPr sz="950" b="0">
                <a:solidFill>
                  <a:srgbClr val="2C2C2C"/>
                </a:solidFill>
                <a:latin typeface="メイリオ"/>
              </a:rPr>
              <a:t>② 小鍋に調味料と玉ねぎを入れて中火で2分。唐揚げを加えて1分。</a:t>
            </a:r>
          </a:p>
          <a:p>
            <a:pPr algn="l"/>
            <a:r>
              <a:rPr sz="950" b="0">
                <a:solidFill>
                  <a:srgbClr val="2C2C2C"/>
                </a:solidFill>
                <a:latin typeface="メイリオ"/>
              </a:rPr>
              <a:t>③ 溶き卵を回し入れ、半熟になったら火を止め30秒蒸らす。</a:t>
            </a:r>
          </a:p>
          <a:p>
            <a:pPr algn="l"/>
            <a:r>
              <a:rPr sz="950" b="0">
                <a:solidFill>
                  <a:srgbClr val="2C2C2C"/>
                </a:solidFill>
                <a:latin typeface="メイリオ"/>
              </a:rPr>
              <a:t>④ ご飯に盛りつけ、三つ葉を散らして完成！</a:t>
            </a:r>
          </a:p>
          <a:p>
            <a:pPr algn="l"/>
            <a:r>
              <a:rPr sz="950" b="0">
                <a:solidFill>
                  <a:srgbClr val="2C2C2C"/>
                </a:solidFill>
                <a:latin typeface="メイリオ"/>
              </a:rPr>
              <a:t/>
            </a:r>
          </a:p>
          <a:p>
            <a:pPr algn="l"/>
            <a:r>
              <a:rPr sz="950" b="0">
                <a:solidFill>
                  <a:srgbClr val="2C2C2C"/>
                </a:solidFill>
                <a:latin typeface="メイリオ"/>
              </a:rPr>
              <a:t>💡 卵は2回に分けて入れるとふんわり仕上がります。</a:t>
            </a:r>
          </a:p>
          <a:p>
            <a:pPr algn="l"/>
            <a:r>
              <a:rPr sz="950" b="0">
                <a:solidFill>
                  <a:srgbClr val="2C2C2C"/>
                </a:solidFill>
                <a:latin typeface="メイリオ"/>
              </a:rPr>
              <a:t>💡 唐揚げは電子レンジで温めておくとよりジューシー。</a:t>
            </a:r>
          </a:p>
        </p:txBody>
      </p:sp>
      <p:sp>
        <p:nvSpPr>
          <p:cNvPr id="21" name="Rectangle 20"/>
          <p:cNvSpPr/>
          <p:nvPr/>
        </p:nvSpPr>
        <p:spPr>
          <a:xfrm>
            <a:off x="288000" y="5256000"/>
            <a:ext cx="6983999" cy="21600"/>
          </a:xfrm>
          <a:prstGeom prst="rect">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0000" y="5166000"/>
            <a:ext cx="720000" cy="180000"/>
          </a:xfrm>
          <a:prstGeom prst="rect">
            <a:avLst/>
          </a:prstGeom>
          <a:noFill/>
        </p:spPr>
        <p:txBody>
          <a:bodyPr wrap="square">
            <a:spAutoFit/>
          </a:bodyPr>
          <a:lstStyle/>
          <a:p>
            <a:pPr algn="ctr"/>
            <a:r>
              <a:rPr sz="1000" b="0" i="0">
                <a:solidFill>
                  <a:srgbClr val="1A7A3C"/>
                </a:solidFill>
                <a:latin typeface="メイリオ"/>
              </a:rPr>
              <a:t>✦</a:t>
            </a:r>
          </a:p>
        </p:txBody>
      </p:sp>
      <p:sp>
        <p:nvSpPr>
          <p:cNvPr id="23" name="Rounded Rectangle 22"/>
          <p:cNvSpPr/>
          <p:nvPr/>
        </p:nvSpPr>
        <p:spPr>
          <a:xfrm>
            <a:off x="251999" y="5346000"/>
            <a:ext cx="7056000" cy="413999"/>
          </a:xfrm>
          <a:prstGeom prst="roundRect">
            <a:avLst>
              <a:gd name="adj" fmla="val 4000"/>
            </a:avLst>
          </a:prstGeom>
          <a:solidFill>
            <a:srgbClr val="0F5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1999" y="5382000"/>
            <a:ext cx="341999" cy="341999"/>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3999" y="5364000"/>
            <a:ext cx="413999" cy="377999"/>
          </a:xfrm>
          <a:prstGeom prst="rect">
            <a:avLst/>
          </a:prstGeom>
          <a:noFill/>
        </p:spPr>
        <p:txBody>
          <a:bodyPr wrap="square">
            <a:spAutoFit/>
          </a:bodyPr>
          <a:lstStyle/>
          <a:p>
            <a:pPr algn="ctr"/>
            <a:r>
              <a:rPr sz="1400" b="0" i="0">
                <a:solidFill>
                  <a:srgbClr val="2C2C2C"/>
                </a:solidFill>
                <a:latin typeface="メイリオ"/>
              </a:rPr>
              <a:t>🗾</a:t>
            </a:r>
          </a:p>
        </p:txBody>
      </p:sp>
      <p:sp>
        <p:nvSpPr>
          <p:cNvPr id="26" name="TextBox 25"/>
          <p:cNvSpPr txBox="1"/>
          <p:nvPr/>
        </p:nvSpPr>
        <p:spPr>
          <a:xfrm>
            <a:off x="773998" y="5382000"/>
            <a:ext cx="6462001" cy="341999"/>
          </a:xfrm>
          <a:prstGeom prst="rect">
            <a:avLst/>
          </a:prstGeom>
          <a:noFill/>
        </p:spPr>
        <p:txBody>
          <a:bodyPr wrap="square">
            <a:spAutoFit/>
          </a:bodyPr>
          <a:lstStyle/>
          <a:p>
            <a:pPr algn="l"/>
            <a:r>
              <a:rPr sz="1300" b="1" i="0">
                <a:solidFill>
                  <a:srgbClr val="FFFFFF"/>
                </a:solidFill>
                <a:latin typeface="メイリオ"/>
              </a:rPr>
              <a:t>地方出身スタッフの郷土料理</a:t>
            </a:r>
          </a:p>
        </p:txBody>
      </p:sp>
      <p:sp>
        <p:nvSpPr>
          <p:cNvPr id="27" name="TextBox 26"/>
          <p:cNvSpPr txBox="1"/>
          <p:nvPr/>
        </p:nvSpPr>
        <p:spPr>
          <a:xfrm>
            <a:off x="773998" y="5573699"/>
            <a:ext cx="6462001" cy="206999"/>
          </a:xfrm>
          <a:prstGeom prst="rect">
            <a:avLst/>
          </a:prstGeom>
          <a:noFill/>
        </p:spPr>
        <p:txBody>
          <a:bodyPr wrap="square">
            <a:spAutoFit/>
          </a:bodyPr>
          <a:lstStyle/>
          <a:p>
            <a:pPr algn="l"/>
            <a:r>
              <a:rPr sz="850" b="0" i="1">
                <a:solidFill>
                  <a:srgbClr val="FFFFFF"/>
                </a:solidFill>
                <a:latin typeface="メイリオ"/>
              </a:rPr>
              <a:t>古市南店  佐藤 由紀さん（青森県弘前市ご出身・勤続8年）</a:t>
            </a:r>
          </a:p>
        </p:txBody>
      </p:sp>
      <p:sp>
        <p:nvSpPr>
          <p:cNvPr id="28" name="TextBox 27"/>
          <p:cNvSpPr txBox="1"/>
          <p:nvPr/>
        </p:nvSpPr>
        <p:spPr>
          <a:xfrm>
            <a:off x="251999" y="5832000"/>
            <a:ext cx="7056000" cy="324000"/>
          </a:xfrm>
          <a:prstGeom prst="rect">
            <a:avLst/>
          </a:prstGeom>
          <a:noFill/>
        </p:spPr>
        <p:txBody>
          <a:bodyPr wrap="square">
            <a:spAutoFit/>
          </a:bodyPr>
          <a:lstStyle/>
          <a:p>
            <a:pPr algn="l"/>
            <a:r>
              <a:rPr sz="1500" b="1" i="0">
                <a:solidFill>
                  <a:srgbClr val="0F5228"/>
                </a:solidFill>
                <a:latin typeface="メイリオ"/>
              </a:rPr>
              <a:t>青森の郷土料理 「いちご煮」</a:t>
            </a:r>
          </a:p>
        </p:txBody>
      </p:sp>
      <p:sp>
        <p:nvSpPr>
          <p:cNvPr id="29" name="TextBox 28"/>
          <p:cNvSpPr txBox="1"/>
          <p:nvPr/>
        </p:nvSpPr>
        <p:spPr>
          <a:xfrm>
            <a:off x="251999" y="6120000"/>
            <a:ext cx="7056000" cy="234000"/>
          </a:xfrm>
          <a:prstGeom prst="rect">
            <a:avLst/>
          </a:prstGeom>
          <a:noFill/>
        </p:spPr>
        <p:txBody>
          <a:bodyPr wrap="square">
            <a:spAutoFit/>
          </a:bodyPr>
          <a:lstStyle/>
          <a:p>
            <a:pPr algn="l"/>
            <a:r>
              <a:rPr sz="900" b="0" i="1">
                <a:solidFill>
                  <a:srgbClr val="888888"/>
                </a:solidFill>
                <a:latin typeface="メイリオ"/>
              </a:rPr>
              <a:t>ウニとアワビの潮汁。野いちごに似た黄金色のウニが名前の由来です。</a:t>
            </a:r>
          </a:p>
        </p:txBody>
      </p:sp>
      <p:sp>
        <p:nvSpPr>
          <p:cNvPr id="30" name="Rectangle 29"/>
          <p:cNvSpPr/>
          <p:nvPr/>
        </p:nvSpPr>
        <p:spPr>
          <a:xfrm>
            <a:off x="251999" y="6390000"/>
            <a:ext cx="2448000" cy="1728000"/>
          </a:xfrm>
          <a:prstGeom prst="rect">
            <a:avLst/>
          </a:prstGeom>
          <a:solidFill>
            <a:srgbClr val="F0F0F0"/>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1999" y="7038000"/>
            <a:ext cx="2448000" cy="432000"/>
          </a:xfrm>
          <a:prstGeom prst="rect">
            <a:avLst/>
          </a:prstGeom>
          <a:noFill/>
        </p:spPr>
        <p:txBody>
          <a:bodyPr wrap="square">
            <a:spAutoFit/>
          </a:bodyPr>
          <a:lstStyle/>
          <a:p>
            <a:pPr algn="ctr"/>
            <a:r>
              <a:rPr sz="850" b="0" i="0">
                <a:solidFill>
                  <a:srgbClr val="888888"/>
                </a:solidFill>
                <a:latin typeface="メイリオ"/>
              </a:rPr>
              <a:t>📷</a:t>
            </a:r>
            <a:br/>
            <a:r>
              <a:t>いちご煮</a:t>
            </a:r>
          </a:p>
        </p:txBody>
      </p:sp>
      <p:sp>
        <p:nvSpPr>
          <p:cNvPr id="32" name="TextBox 31"/>
          <p:cNvSpPr txBox="1"/>
          <p:nvPr/>
        </p:nvSpPr>
        <p:spPr>
          <a:xfrm>
            <a:off x="2844000" y="6390000"/>
            <a:ext cx="4464000" cy="1728000"/>
          </a:xfrm>
          <a:prstGeom prst="rect">
            <a:avLst/>
          </a:prstGeom>
          <a:noFill/>
        </p:spPr>
        <p:txBody>
          <a:bodyPr wrap="square">
            <a:spAutoFit/>
          </a:bodyPr>
          <a:lstStyle/>
          <a:p>
            <a:pPr algn="l"/>
            <a:r>
              <a:rPr sz="900" b="1">
                <a:solidFill>
                  <a:srgbClr val="2C2C2C"/>
                </a:solidFill>
                <a:latin typeface="メイリオ"/>
              </a:rPr>
              <a:t>【材料（4人分）】</a:t>
            </a:r>
          </a:p>
          <a:p>
            <a:pPr algn="l"/>
            <a:r>
              <a:rPr sz="900" b="0">
                <a:solidFill>
                  <a:srgbClr val="2C2C2C"/>
                </a:solidFill>
                <a:latin typeface="メイリオ"/>
              </a:rPr>
              <a:t>・ウニ（塩水ウニ） 60g</a:t>
            </a:r>
          </a:p>
          <a:p>
            <a:pPr algn="l"/>
            <a:r>
              <a:rPr sz="900" b="0">
                <a:solidFill>
                  <a:srgbClr val="2C2C2C"/>
                </a:solidFill>
                <a:latin typeface="メイリオ"/>
              </a:rPr>
              <a:t>・アワビ  1個（薄切り）</a:t>
            </a:r>
          </a:p>
          <a:p>
            <a:pPr algn="l"/>
            <a:r>
              <a:rPr sz="900" b="0">
                <a:solidFill>
                  <a:srgbClr val="2C2C2C"/>
                </a:solidFill>
                <a:latin typeface="メイリオ"/>
              </a:rPr>
              <a:t>・昆布だし  600ml</a:t>
            </a:r>
          </a:p>
          <a:p>
            <a:pPr algn="l"/>
            <a:r>
              <a:rPr sz="900" b="0">
                <a:solidFill>
                  <a:srgbClr val="2C2C2C"/>
                </a:solidFill>
                <a:latin typeface="メイリオ"/>
              </a:rPr>
              <a:t>・酒  大さじ2</a:t>
            </a:r>
          </a:p>
          <a:p>
            <a:pPr algn="l"/>
            <a:r>
              <a:rPr sz="900" b="0">
                <a:solidFill>
                  <a:srgbClr val="2C2C2C"/>
                </a:solidFill>
                <a:latin typeface="メイリオ"/>
              </a:rPr>
              <a:t>・塩  小さじ3/4</a:t>
            </a:r>
          </a:p>
          <a:p>
            <a:pPr algn="l"/>
            <a:r>
              <a:rPr sz="900" b="0">
                <a:solidFill>
                  <a:srgbClr val="2C2C2C"/>
                </a:solidFill>
                <a:latin typeface="メイリオ"/>
              </a:rPr>
              <a:t>・薄口醤油  小さじ1/2</a:t>
            </a:r>
          </a:p>
          <a:p>
            <a:pPr algn="l"/>
            <a:r>
              <a:rPr sz="900" b="0">
                <a:solidFill>
                  <a:srgbClr val="2C2C2C"/>
                </a:solidFill>
                <a:latin typeface="メイリオ"/>
              </a:rPr>
              <a:t/>
            </a:r>
          </a:p>
          <a:p>
            <a:pPr algn="l"/>
            <a:r>
              <a:rPr sz="900" b="0">
                <a:solidFill>
                  <a:srgbClr val="2C2C2C"/>
                </a:solidFill>
                <a:latin typeface="メイリオ"/>
              </a:rPr>
              <a:t>【作り方】</a:t>
            </a:r>
          </a:p>
          <a:p>
            <a:pPr algn="l"/>
            <a:r>
              <a:rPr sz="900" b="0">
                <a:solidFill>
                  <a:srgbClr val="2C2C2C"/>
                </a:solidFill>
                <a:latin typeface="メイリオ"/>
              </a:rPr>
              <a:t>① アワビを塩でもみ洗いし薄切りに。</a:t>
            </a:r>
          </a:p>
          <a:p>
            <a:pPr algn="l"/>
            <a:r>
              <a:rPr sz="900" b="0">
                <a:solidFill>
                  <a:srgbClr val="2C2C2C"/>
                </a:solidFill>
                <a:latin typeface="メイリオ"/>
              </a:rPr>
              <a:t>② だし汁と酒を温めアワビを弱火で3分。</a:t>
            </a:r>
          </a:p>
          <a:p>
            <a:pPr algn="l"/>
            <a:r>
              <a:rPr sz="900" b="0">
                <a:solidFill>
                  <a:srgbClr val="2C2C2C"/>
                </a:solidFill>
                <a:latin typeface="メイリオ"/>
              </a:rPr>
              <a:t>③ 塩・醤油で調味し、ウニを加えてひと煮立ち。</a:t>
            </a:r>
          </a:p>
          <a:p>
            <a:pPr algn="l"/>
            <a:r>
              <a:rPr sz="900" b="0">
                <a:solidFill>
                  <a:srgbClr val="2C2C2C"/>
                </a:solidFill>
                <a:latin typeface="メイリオ"/>
              </a:rPr>
              <a:t>④ 器に盛り、三つ葉を添えて完成。</a:t>
            </a:r>
          </a:p>
        </p:txBody>
      </p:sp>
      <p:sp>
        <p:nvSpPr>
          <p:cNvPr id="33" name="Rounded Rectangle 32"/>
          <p:cNvSpPr/>
          <p:nvPr/>
        </p:nvSpPr>
        <p:spPr>
          <a:xfrm>
            <a:off x="251999" y="8190000"/>
            <a:ext cx="7056000" cy="503999"/>
          </a:xfrm>
          <a:prstGeom prst="roundRect">
            <a:avLst>
              <a:gd name="adj" fmla="val 5000"/>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0000" y="8226000"/>
            <a:ext cx="6840000" cy="432000"/>
          </a:xfrm>
          <a:prstGeom prst="rect">
            <a:avLst/>
          </a:prstGeom>
          <a:noFill/>
        </p:spPr>
        <p:txBody>
          <a:bodyPr wrap="square">
            <a:spAutoFit/>
          </a:bodyPr>
          <a:lstStyle/>
          <a:p>
            <a:pPr algn="l"/>
            <a:r>
              <a:rPr sz="950" b="0" i="0">
                <a:solidFill>
                  <a:srgbClr val="0F5228"/>
                </a:solidFill>
                <a:latin typeface="メイリオ"/>
              </a:rPr>
              <a:t>佐藤さんより 🌿  「お盆や年越しには必ずこれ！大阪に来てからもふるさとの味が恋しくて毎年作ります。だしの香りだけで心が温まりますよ。お試しください！」</a:t>
            </a:r>
          </a:p>
        </p:txBody>
      </p:sp>
      <p:sp>
        <p:nvSpPr>
          <p:cNvPr id="35" name="Rectangle 34"/>
          <p:cNvSpPr/>
          <p:nvPr/>
        </p:nvSpPr>
        <p:spPr>
          <a:xfrm>
            <a:off x="0" y="10440000"/>
            <a:ext cx="7560000" cy="251999"/>
          </a:xfrm>
          <a:prstGeom prst="rect">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0000" y="10458000"/>
            <a:ext cx="7200000" cy="223200"/>
          </a:xfrm>
          <a:prstGeom prst="rect">
            <a:avLst/>
          </a:prstGeom>
          <a:noFill/>
        </p:spPr>
        <p:txBody>
          <a:bodyPr wrap="square">
            <a:spAutoFit/>
          </a:bodyPr>
          <a:lstStyle/>
          <a:p>
            <a:pPr algn="ctr"/>
            <a:r>
              <a:rPr sz="850" b="0" i="0">
                <a:solidFill>
                  <a:srgbClr val="0F5228"/>
                </a:solidFill>
                <a:latin typeface="メイリオ"/>
              </a:rPr>
              <a:t>🗾  あなたの故郷の味を教えてください！郷土料理レシピ随時募集中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AF3"/>
        </a:solidFill>
        <a:effectLst/>
      </p:bgPr>
    </p:bg>
    <p:spTree>
      <p:nvGrpSpPr>
        <p:cNvPr id="1" name=""/>
        <p:cNvGrpSpPr/>
        <p:nvPr/>
      </p:nvGrpSpPr>
      <p:grpSpPr/>
      <p:sp>
        <p:nvSpPr>
          <p:cNvPr id="2" name="Rectangle 1"/>
          <p:cNvSpPr/>
          <p:nvPr/>
        </p:nvSpPr>
        <p:spPr>
          <a:xfrm>
            <a:off x="0" y="0"/>
            <a:ext cx="7560000" cy="30600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25200"/>
            <a:ext cx="5400000" cy="259200"/>
          </a:xfrm>
          <a:prstGeom prst="rect">
            <a:avLst/>
          </a:prstGeom>
          <a:noFill/>
        </p:spPr>
        <p:txBody>
          <a:bodyPr wrap="square">
            <a:spAutoFit/>
          </a:bodyPr>
          <a:lstStyle/>
          <a:p>
            <a:pPr algn="l"/>
            <a:r>
              <a:rPr sz="900" b="0" i="0">
                <a:solidFill>
                  <a:srgbClr val="FFFFFF"/>
                </a:solidFill>
                <a:latin typeface="メイリオ"/>
              </a:rPr>
              <a:t>🌿  サンプラザ ひだまり通信  創刊号  2026年6月</a:t>
            </a:r>
          </a:p>
        </p:txBody>
      </p:sp>
      <p:sp>
        <p:nvSpPr>
          <p:cNvPr id="4" name="TextBox 3"/>
          <p:cNvSpPr txBox="1"/>
          <p:nvPr/>
        </p:nvSpPr>
        <p:spPr>
          <a:xfrm>
            <a:off x="5940000" y="25200"/>
            <a:ext cx="1440000" cy="259200"/>
          </a:xfrm>
          <a:prstGeom prst="rect">
            <a:avLst/>
          </a:prstGeom>
          <a:noFill/>
        </p:spPr>
        <p:txBody>
          <a:bodyPr wrap="square">
            <a:spAutoFit/>
          </a:bodyPr>
          <a:lstStyle/>
          <a:p>
            <a:pPr algn="r"/>
            <a:r>
              <a:rPr sz="1000" b="1" i="0">
                <a:solidFill>
                  <a:srgbClr val="FFFFFF"/>
                </a:solidFill>
                <a:latin typeface="メイリオ"/>
              </a:rPr>
              <a:t>P.4</a:t>
            </a:r>
          </a:p>
        </p:txBody>
      </p:sp>
      <p:sp>
        <p:nvSpPr>
          <p:cNvPr id="5" name="Rounded Rectangle 4"/>
          <p:cNvSpPr/>
          <p:nvPr/>
        </p:nvSpPr>
        <p:spPr>
          <a:xfrm>
            <a:off x="251999" y="396000"/>
            <a:ext cx="7056000" cy="413999"/>
          </a:xfrm>
          <a:prstGeom prst="roundRect">
            <a:avLst>
              <a:gd name="adj" fmla="val 4000"/>
            </a:avLst>
          </a:prstGeom>
          <a:solidFill>
            <a:srgbClr val="B39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41999" y="432000"/>
            <a:ext cx="341999" cy="341999"/>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99" y="414000"/>
            <a:ext cx="413999" cy="377999"/>
          </a:xfrm>
          <a:prstGeom prst="rect">
            <a:avLst/>
          </a:prstGeom>
          <a:noFill/>
        </p:spPr>
        <p:txBody>
          <a:bodyPr wrap="square">
            <a:spAutoFit/>
          </a:bodyPr>
          <a:lstStyle/>
          <a:p>
            <a:pPr algn="ctr"/>
            <a:r>
              <a:rPr sz="1400" b="0" i="0">
                <a:solidFill>
                  <a:srgbClr val="2C2C2C"/>
                </a:solidFill>
                <a:latin typeface="メイリオ"/>
              </a:rPr>
              <a:t>💡</a:t>
            </a:r>
          </a:p>
        </p:txBody>
      </p:sp>
      <p:sp>
        <p:nvSpPr>
          <p:cNvPr id="8" name="TextBox 7"/>
          <p:cNvSpPr txBox="1"/>
          <p:nvPr/>
        </p:nvSpPr>
        <p:spPr>
          <a:xfrm>
            <a:off x="773998" y="432000"/>
            <a:ext cx="6462001" cy="341999"/>
          </a:xfrm>
          <a:prstGeom prst="rect">
            <a:avLst/>
          </a:prstGeom>
          <a:noFill/>
        </p:spPr>
        <p:txBody>
          <a:bodyPr wrap="square">
            <a:spAutoFit/>
          </a:bodyPr>
          <a:lstStyle/>
          <a:p>
            <a:pPr algn="l"/>
            <a:r>
              <a:rPr sz="1300" b="1" i="0">
                <a:solidFill>
                  <a:srgbClr val="FFFFFF"/>
                </a:solidFill>
                <a:latin typeface="メイリオ"/>
              </a:rPr>
              <a:t>ちょこっと得する生活の知恵</a:t>
            </a:r>
          </a:p>
        </p:txBody>
      </p:sp>
      <p:sp>
        <p:nvSpPr>
          <p:cNvPr id="9" name="Rounded Rectangle 8"/>
          <p:cNvSpPr/>
          <p:nvPr/>
        </p:nvSpPr>
        <p:spPr>
          <a:xfrm>
            <a:off x="251999" y="882000"/>
            <a:ext cx="2232000" cy="1800000"/>
          </a:xfrm>
          <a:prstGeom prst="roundRect">
            <a:avLst>
              <a:gd name="adj" fmla="val 6000"/>
            </a:avLst>
          </a:prstGeom>
          <a:solidFill>
            <a:srgbClr val="EE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999" y="917999"/>
            <a:ext cx="2160000" cy="324000"/>
          </a:xfrm>
          <a:prstGeom prst="rect">
            <a:avLst/>
          </a:prstGeom>
          <a:noFill/>
        </p:spPr>
        <p:txBody>
          <a:bodyPr wrap="square">
            <a:spAutoFit/>
          </a:bodyPr>
          <a:lstStyle/>
          <a:p>
            <a:pPr algn="ctr"/>
            <a:r>
              <a:rPr sz="2200" b="0" i="0">
                <a:solidFill>
                  <a:srgbClr val="B39DDB"/>
                </a:solidFill>
                <a:latin typeface="メイリオ"/>
              </a:rPr>
              <a:t>🥒</a:t>
            </a:r>
          </a:p>
        </p:txBody>
      </p:sp>
      <p:sp>
        <p:nvSpPr>
          <p:cNvPr id="11" name="TextBox 10"/>
          <p:cNvSpPr txBox="1"/>
          <p:nvPr/>
        </p:nvSpPr>
        <p:spPr>
          <a:xfrm>
            <a:off x="323999" y="1260000"/>
            <a:ext cx="2088000" cy="270000"/>
          </a:xfrm>
          <a:prstGeom prst="rect">
            <a:avLst/>
          </a:prstGeom>
          <a:noFill/>
        </p:spPr>
        <p:txBody>
          <a:bodyPr wrap="square">
            <a:spAutoFit/>
          </a:bodyPr>
          <a:lstStyle/>
          <a:p>
            <a:pPr algn="l"/>
            <a:r>
              <a:rPr sz="1050" b="1" i="0">
                <a:solidFill>
                  <a:srgbClr val="0F5228"/>
                </a:solidFill>
                <a:latin typeface="メイリオ"/>
              </a:rPr>
              <a:t>きゅうりの苦み取り</a:t>
            </a:r>
          </a:p>
        </p:txBody>
      </p:sp>
      <p:sp>
        <p:nvSpPr>
          <p:cNvPr id="12" name="TextBox 11"/>
          <p:cNvSpPr txBox="1"/>
          <p:nvPr/>
        </p:nvSpPr>
        <p:spPr>
          <a:xfrm>
            <a:off x="323999" y="1548000"/>
            <a:ext cx="2088000" cy="1044000"/>
          </a:xfrm>
          <a:prstGeom prst="rect">
            <a:avLst/>
          </a:prstGeom>
          <a:noFill/>
        </p:spPr>
        <p:txBody>
          <a:bodyPr wrap="square">
            <a:spAutoFit/>
          </a:bodyPr>
          <a:lstStyle/>
          <a:p>
            <a:pPr algn="l"/>
            <a:r>
              <a:rPr sz="950" b="0">
                <a:solidFill>
                  <a:srgbClr val="2C2C2C"/>
                </a:solidFill>
                <a:latin typeface="メイリオ"/>
              </a:rPr>
              <a:t>ヘタを切った断面同士をくるくると擦り合わせると白い泡が出てきます。これが苦みの素！1分ほど続けるとおいしさUP。</a:t>
            </a:r>
          </a:p>
        </p:txBody>
      </p:sp>
      <p:sp>
        <p:nvSpPr>
          <p:cNvPr id="13" name="Rounded Rectangle 12"/>
          <p:cNvSpPr/>
          <p:nvPr/>
        </p:nvSpPr>
        <p:spPr>
          <a:xfrm>
            <a:off x="2609999" y="882000"/>
            <a:ext cx="2232000" cy="1800000"/>
          </a:xfrm>
          <a:prstGeom prst="roundRect">
            <a:avLst>
              <a:gd name="adj" fmla="val 6000"/>
            </a:avLst>
          </a:prstGeom>
          <a:solidFill>
            <a:srgbClr val="EE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45999" y="917999"/>
            <a:ext cx="2160000" cy="324000"/>
          </a:xfrm>
          <a:prstGeom prst="rect">
            <a:avLst/>
          </a:prstGeom>
          <a:noFill/>
        </p:spPr>
        <p:txBody>
          <a:bodyPr wrap="square">
            <a:spAutoFit/>
          </a:bodyPr>
          <a:lstStyle/>
          <a:p>
            <a:pPr algn="ctr"/>
            <a:r>
              <a:rPr sz="2200" b="0" i="0">
                <a:solidFill>
                  <a:srgbClr val="B39DDB"/>
                </a:solidFill>
                <a:latin typeface="メイリオ"/>
              </a:rPr>
              <a:t>🍌</a:t>
            </a:r>
          </a:p>
        </p:txBody>
      </p:sp>
      <p:sp>
        <p:nvSpPr>
          <p:cNvPr id="15" name="TextBox 14"/>
          <p:cNvSpPr txBox="1"/>
          <p:nvPr/>
        </p:nvSpPr>
        <p:spPr>
          <a:xfrm>
            <a:off x="2681999" y="1260000"/>
            <a:ext cx="2088000" cy="270000"/>
          </a:xfrm>
          <a:prstGeom prst="rect">
            <a:avLst/>
          </a:prstGeom>
          <a:noFill/>
        </p:spPr>
        <p:txBody>
          <a:bodyPr wrap="square">
            <a:spAutoFit/>
          </a:bodyPr>
          <a:lstStyle/>
          <a:p>
            <a:pPr algn="l"/>
            <a:r>
              <a:rPr sz="1050" b="1" i="0">
                <a:solidFill>
                  <a:srgbClr val="0F5228"/>
                </a:solidFill>
                <a:latin typeface="メイリオ"/>
              </a:rPr>
              <a:t>バナナ即席アイス</a:t>
            </a:r>
          </a:p>
        </p:txBody>
      </p:sp>
      <p:sp>
        <p:nvSpPr>
          <p:cNvPr id="16" name="TextBox 15"/>
          <p:cNvSpPr txBox="1"/>
          <p:nvPr/>
        </p:nvSpPr>
        <p:spPr>
          <a:xfrm>
            <a:off x="2681999" y="1548000"/>
            <a:ext cx="2088000" cy="1044000"/>
          </a:xfrm>
          <a:prstGeom prst="rect">
            <a:avLst/>
          </a:prstGeom>
          <a:noFill/>
        </p:spPr>
        <p:txBody>
          <a:bodyPr wrap="square">
            <a:spAutoFit/>
          </a:bodyPr>
          <a:lstStyle/>
          <a:p>
            <a:pPr algn="l"/>
            <a:r>
              <a:rPr sz="950" b="0">
                <a:solidFill>
                  <a:srgbClr val="2C2C2C"/>
                </a:solidFill>
                <a:latin typeface="メイリオ"/>
              </a:rPr>
              <a:t>熟したバナナを輪切りにして冷凍。凍ったままミキサーにかけるだけでクリーミーなアイスに！砂糖ゼロでヘルシー♪</a:t>
            </a:r>
          </a:p>
        </p:txBody>
      </p:sp>
      <p:sp>
        <p:nvSpPr>
          <p:cNvPr id="17" name="Rounded Rectangle 16"/>
          <p:cNvSpPr/>
          <p:nvPr/>
        </p:nvSpPr>
        <p:spPr>
          <a:xfrm>
            <a:off x="4967999" y="882000"/>
            <a:ext cx="2232000" cy="1800000"/>
          </a:xfrm>
          <a:prstGeom prst="roundRect">
            <a:avLst>
              <a:gd name="adj" fmla="val 6000"/>
            </a:avLst>
          </a:prstGeom>
          <a:solidFill>
            <a:srgbClr val="EE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3999" y="917999"/>
            <a:ext cx="2160000" cy="324000"/>
          </a:xfrm>
          <a:prstGeom prst="rect">
            <a:avLst/>
          </a:prstGeom>
          <a:noFill/>
        </p:spPr>
        <p:txBody>
          <a:bodyPr wrap="square">
            <a:spAutoFit/>
          </a:bodyPr>
          <a:lstStyle/>
          <a:p>
            <a:pPr algn="ctr"/>
            <a:r>
              <a:rPr sz="2200" b="0" i="0">
                <a:solidFill>
                  <a:srgbClr val="B39DDB"/>
                </a:solidFill>
                <a:latin typeface="メイリオ"/>
              </a:rPr>
              <a:t>🌱</a:t>
            </a:r>
          </a:p>
        </p:txBody>
      </p:sp>
      <p:sp>
        <p:nvSpPr>
          <p:cNvPr id="19" name="TextBox 18"/>
          <p:cNvSpPr txBox="1"/>
          <p:nvPr/>
        </p:nvSpPr>
        <p:spPr>
          <a:xfrm>
            <a:off x="5039999" y="1260000"/>
            <a:ext cx="2088000" cy="270000"/>
          </a:xfrm>
          <a:prstGeom prst="rect">
            <a:avLst/>
          </a:prstGeom>
          <a:noFill/>
        </p:spPr>
        <p:txBody>
          <a:bodyPr wrap="square">
            <a:spAutoFit/>
          </a:bodyPr>
          <a:lstStyle/>
          <a:p>
            <a:pPr algn="l"/>
            <a:r>
              <a:rPr sz="1050" b="1" i="0">
                <a:solidFill>
                  <a:srgbClr val="0F5228"/>
                </a:solidFill>
                <a:latin typeface="メイリオ"/>
              </a:rPr>
              <a:t>お米のとぎ汁活用</a:t>
            </a:r>
          </a:p>
        </p:txBody>
      </p:sp>
      <p:sp>
        <p:nvSpPr>
          <p:cNvPr id="20" name="TextBox 19"/>
          <p:cNvSpPr txBox="1"/>
          <p:nvPr/>
        </p:nvSpPr>
        <p:spPr>
          <a:xfrm>
            <a:off x="5039999" y="1548000"/>
            <a:ext cx="2088000" cy="1044000"/>
          </a:xfrm>
          <a:prstGeom prst="rect">
            <a:avLst/>
          </a:prstGeom>
          <a:noFill/>
        </p:spPr>
        <p:txBody>
          <a:bodyPr wrap="square">
            <a:spAutoFit/>
          </a:bodyPr>
          <a:lstStyle/>
          <a:p>
            <a:pPr algn="l"/>
            <a:r>
              <a:rPr sz="950" b="0">
                <a:solidFill>
                  <a:srgbClr val="2C2C2C"/>
                </a:solidFill>
                <a:latin typeface="メイリオ"/>
              </a:rPr>
              <a:t>栄養豊富なとぎ汁は観葉植物や家庭菜園への水やりに最適。植物が元気に育ちます。捨てずに活用！</a:t>
            </a:r>
          </a:p>
        </p:txBody>
      </p:sp>
      <p:sp>
        <p:nvSpPr>
          <p:cNvPr id="21" name="Rectangle 20"/>
          <p:cNvSpPr/>
          <p:nvPr/>
        </p:nvSpPr>
        <p:spPr>
          <a:xfrm>
            <a:off x="288000" y="2772000"/>
            <a:ext cx="6983999" cy="21600"/>
          </a:xfrm>
          <a:prstGeom prst="rect">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20000" y="2682000"/>
            <a:ext cx="720000" cy="180000"/>
          </a:xfrm>
          <a:prstGeom prst="rect">
            <a:avLst/>
          </a:prstGeom>
          <a:noFill/>
        </p:spPr>
        <p:txBody>
          <a:bodyPr wrap="square">
            <a:spAutoFit/>
          </a:bodyPr>
          <a:lstStyle/>
          <a:p>
            <a:pPr algn="ctr"/>
            <a:r>
              <a:rPr sz="1000" b="0" i="0">
                <a:solidFill>
                  <a:srgbClr val="1A7A3C"/>
                </a:solidFill>
                <a:latin typeface="メイリオ"/>
              </a:rPr>
              <a:t>✦</a:t>
            </a:r>
          </a:p>
        </p:txBody>
      </p:sp>
      <p:sp>
        <p:nvSpPr>
          <p:cNvPr id="23" name="Rounded Rectangle 22"/>
          <p:cNvSpPr/>
          <p:nvPr/>
        </p:nvSpPr>
        <p:spPr>
          <a:xfrm>
            <a:off x="251999" y="2844000"/>
            <a:ext cx="7056000" cy="413999"/>
          </a:xfrm>
          <a:prstGeom prst="roundRect">
            <a:avLst>
              <a:gd name="adj" fmla="val 4000"/>
            </a:avLst>
          </a:prstGeom>
          <a:solidFill>
            <a:srgbClr val="FFE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1999" y="2880000"/>
            <a:ext cx="341999" cy="341999"/>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3999" y="2862000"/>
            <a:ext cx="413999" cy="377999"/>
          </a:xfrm>
          <a:prstGeom prst="rect">
            <a:avLst/>
          </a:prstGeom>
          <a:noFill/>
        </p:spPr>
        <p:txBody>
          <a:bodyPr wrap="square">
            <a:spAutoFit/>
          </a:bodyPr>
          <a:lstStyle/>
          <a:p>
            <a:pPr algn="ctr"/>
            <a:r>
              <a:rPr sz="1400" b="0" i="0">
                <a:solidFill>
                  <a:srgbClr val="2C2C2C"/>
                </a:solidFill>
                <a:latin typeface="メイリオ"/>
              </a:rPr>
              <a:t>🎉</a:t>
            </a:r>
          </a:p>
        </p:txBody>
      </p:sp>
      <p:sp>
        <p:nvSpPr>
          <p:cNvPr id="26" name="TextBox 25"/>
          <p:cNvSpPr txBox="1"/>
          <p:nvPr/>
        </p:nvSpPr>
        <p:spPr>
          <a:xfrm>
            <a:off x="773998" y="2880000"/>
            <a:ext cx="6462001" cy="341999"/>
          </a:xfrm>
          <a:prstGeom prst="rect">
            <a:avLst/>
          </a:prstGeom>
          <a:noFill/>
        </p:spPr>
        <p:txBody>
          <a:bodyPr wrap="square">
            <a:spAutoFit/>
          </a:bodyPr>
          <a:lstStyle/>
          <a:p>
            <a:pPr algn="l"/>
            <a:r>
              <a:rPr sz="1300" b="1" i="0">
                <a:solidFill>
                  <a:srgbClr val="2C2C2C"/>
                </a:solidFill>
                <a:latin typeface="メイリオ"/>
              </a:rPr>
              <a:t>今月のお誕生日スタッフ 🎂</a:t>
            </a:r>
          </a:p>
        </p:txBody>
      </p:sp>
      <p:sp>
        <p:nvSpPr>
          <p:cNvPr id="27" name="Rounded Rectangle 26"/>
          <p:cNvSpPr/>
          <p:nvPr/>
        </p:nvSpPr>
        <p:spPr>
          <a:xfrm>
            <a:off x="251999" y="3330000"/>
            <a:ext cx="2232000" cy="540000"/>
          </a:xfrm>
          <a:prstGeom prst="roundRect">
            <a:avLst>
              <a:gd name="adj" fmla="val 7000"/>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999" y="3348000"/>
            <a:ext cx="2015999" cy="251999"/>
          </a:xfrm>
          <a:prstGeom prst="rect">
            <a:avLst/>
          </a:prstGeom>
          <a:noFill/>
        </p:spPr>
        <p:txBody>
          <a:bodyPr wrap="square">
            <a:spAutoFit/>
          </a:bodyPr>
          <a:lstStyle/>
          <a:p>
            <a:pPr algn="l"/>
            <a:r>
              <a:rPr sz="1050" b="1" i="0">
                <a:solidFill>
                  <a:srgbClr val="0F5228"/>
                </a:solidFill>
                <a:latin typeface="メイリオ"/>
              </a:rPr>
              <a:t>🎂  山田 花子さん</a:t>
            </a:r>
          </a:p>
        </p:txBody>
      </p:sp>
      <p:sp>
        <p:nvSpPr>
          <p:cNvPr id="29" name="TextBox 28"/>
          <p:cNvSpPr txBox="1"/>
          <p:nvPr/>
        </p:nvSpPr>
        <p:spPr>
          <a:xfrm>
            <a:off x="359999" y="3600000"/>
            <a:ext cx="2015999" cy="216000"/>
          </a:xfrm>
          <a:prstGeom prst="rect">
            <a:avLst/>
          </a:prstGeom>
          <a:noFill/>
        </p:spPr>
        <p:txBody>
          <a:bodyPr wrap="square">
            <a:spAutoFit/>
          </a:bodyPr>
          <a:lstStyle/>
          <a:p>
            <a:pPr algn="l"/>
            <a:r>
              <a:rPr sz="850" b="0" i="0">
                <a:solidFill>
                  <a:srgbClr val="888888"/>
                </a:solidFill>
                <a:latin typeface="メイリオ"/>
              </a:rPr>
              <a:t>堺東駅前店</a:t>
            </a:r>
          </a:p>
        </p:txBody>
      </p:sp>
      <p:sp>
        <p:nvSpPr>
          <p:cNvPr id="30" name="Rounded Rectangle 29"/>
          <p:cNvSpPr/>
          <p:nvPr/>
        </p:nvSpPr>
        <p:spPr>
          <a:xfrm>
            <a:off x="2609999" y="3330000"/>
            <a:ext cx="2232000" cy="540000"/>
          </a:xfrm>
          <a:prstGeom prst="roundRect">
            <a:avLst>
              <a:gd name="adj" fmla="val 7000"/>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17999" y="3348000"/>
            <a:ext cx="2015999" cy="251999"/>
          </a:xfrm>
          <a:prstGeom prst="rect">
            <a:avLst/>
          </a:prstGeom>
          <a:noFill/>
        </p:spPr>
        <p:txBody>
          <a:bodyPr wrap="square">
            <a:spAutoFit/>
          </a:bodyPr>
          <a:lstStyle/>
          <a:p>
            <a:pPr algn="l"/>
            <a:r>
              <a:rPr sz="1050" b="1" i="0">
                <a:solidFill>
                  <a:srgbClr val="0F5228"/>
                </a:solidFill>
                <a:latin typeface="メイリオ"/>
              </a:rPr>
              <a:t>🎂  田中 美穂さん</a:t>
            </a:r>
          </a:p>
        </p:txBody>
      </p:sp>
      <p:sp>
        <p:nvSpPr>
          <p:cNvPr id="32" name="TextBox 31"/>
          <p:cNvSpPr txBox="1"/>
          <p:nvPr/>
        </p:nvSpPr>
        <p:spPr>
          <a:xfrm>
            <a:off x="2717999" y="3600000"/>
            <a:ext cx="2015999" cy="216000"/>
          </a:xfrm>
          <a:prstGeom prst="rect">
            <a:avLst/>
          </a:prstGeom>
          <a:noFill/>
        </p:spPr>
        <p:txBody>
          <a:bodyPr wrap="square">
            <a:spAutoFit/>
          </a:bodyPr>
          <a:lstStyle/>
          <a:p>
            <a:pPr algn="l"/>
            <a:r>
              <a:rPr sz="850" b="0" i="0">
                <a:solidFill>
                  <a:srgbClr val="888888"/>
                </a:solidFill>
                <a:latin typeface="メイリオ"/>
              </a:rPr>
              <a:t>古市南店</a:t>
            </a:r>
          </a:p>
        </p:txBody>
      </p:sp>
      <p:sp>
        <p:nvSpPr>
          <p:cNvPr id="33" name="Rounded Rectangle 32"/>
          <p:cNvSpPr/>
          <p:nvPr/>
        </p:nvSpPr>
        <p:spPr>
          <a:xfrm>
            <a:off x="4967999" y="3330000"/>
            <a:ext cx="2232000" cy="540000"/>
          </a:xfrm>
          <a:prstGeom prst="roundRect">
            <a:avLst>
              <a:gd name="adj" fmla="val 7000"/>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5999" y="3348000"/>
            <a:ext cx="2015999" cy="251999"/>
          </a:xfrm>
          <a:prstGeom prst="rect">
            <a:avLst/>
          </a:prstGeom>
          <a:noFill/>
        </p:spPr>
        <p:txBody>
          <a:bodyPr wrap="square">
            <a:spAutoFit/>
          </a:bodyPr>
          <a:lstStyle/>
          <a:p>
            <a:pPr algn="l"/>
            <a:r>
              <a:rPr sz="1050" b="1" i="0">
                <a:solidFill>
                  <a:srgbClr val="0F5228"/>
                </a:solidFill>
                <a:latin typeface="メイリオ"/>
              </a:rPr>
              <a:t>🎂  中村 幸恵さん</a:t>
            </a:r>
          </a:p>
        </p:txBody>
      </p:sp>
      <p:sp>
        <p:nvSpPr>
          <p:cNvPr id="35" name="TextBox 34"/>
          <p:cNvSpPr txBox="1"/>
          <p:nvPr/>
        </p:nvSpPr>
        <p:spPr>
          <a:xfrm>
            <a:off x="5075999" y="3600000"/>
            <a:ext cx="2015999" cy="216000"/>
          </a:xfrm>
          <a:prstGeom prst="rect">
            <a:avLst/>
          </a:prstGeom>
          <a:noFill/>
        </p:spPr>
        <p:txBody>
          <a:bodyPr wrap="square">
            <a:spAutoFit/>
          </a:bodyPr>
          <a:lstStyle/>
          <a:p>
            <a:pPr algn="l"/>
            <a:r>
              <a:rPr sz="850" b="0" i="0">
                <a:solidFill>
                  <a:srgbClr val="888888"/>
                </a:solidFill>
                <a:latin typeface="メイリオ"/>
              </a:rPr>
              <a:t>三日市駅前店</a:t>
            </a:r>
          </a:p>
        </p:txBody>
      </p:sp>
      <p:sp>
        <p:nvSpPr>
          <p:cNvPr id="36" name="Rounded Rectangle 35"/>
          <p:cNvSpPr/>
          <p:nvPr/>
        </p:nvSpPr>
        <p:spPr>
          <a:xfrm>
            <a:off x="251999" y="3924000"/>
            <a:ext cx="2232000" cy="540000"/>
          </a:xfrm>
          <a:prstGeom prst="roundRect">
            <a:avLst>
              <a:gd name="adj" fmla="val 7000"/>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9999" y="3942000"/>
            <a:ext cx="2015999" cy="251999"/>
          </a:xfrm>
          <a:prstGeom prst="rect">
            <a:avLst/>
          </a:prstGeom>
          <a:noFill/>
        </p:spPr>
        <p:txBody>
          <a:bodyPr wrap="square">
            <a:spAutoFit/>
          </a:bodyPr>
          <a:lstStyle/>
          <a:p>
            <a:pPr algn="l"/>
            <a:r>
              <a:rPr sz="1050" b="1" i="0">
                <a:solidFill>
                  <a:srgbClr val="0F5228"/>
                </a:solidFill>
                <a:latin typeface="メイリオ"/>
              </a:rPr>
              <a:t>🎂  鈴木 由美さん</a:t>
            </a:r>
          </a:p>
        </p:txBody>
      </p:sp>
      <p:sp>
        <p:nvSpPr>
          <p:cNvPr id="38" name="TextBox 37"/>
          <p:cNvSpPr txBox="1"/>
          <p:nvPr/>
        </p:nvSpPr>
        <p:spPr>
          <a:xfrm>
            <a:off x="359999" y="4194000"/>
            <a:ext cx="2015999" cy="216000"/>
          </a:xfrm>
          <a:prstGeom prst="rect">
            <a:avLst/>
          </a:prstGeom>
          <a:noFill/>
        </p:spPr>
        <p:txBody>
          <a:bodyPr wrap="square">
            <a:spAutoFit/>
          </a:bodyPr>
          <a:lstStyle/>
          <a:p>
            <a:pPr algn="l"/>
            <a:r>
              <a:rPr sz="850" b="0" i="0">
                <a:solidFill>
                  <a:srgbClr val="888888"/>
                </a:solidFill>
                <a:latin typeface="メイリオ"/>
              </a:rPr>
              <a:t>羽曳が丘店</a:t>
            </a:r>
          </a:p>
        </p:txBody>
      </p:sp>
      <p:sp>
        <p:nvSpPr>
          <p:cNvPr id="39" name="Rounded Rectangle 38"/>
          <p:cNvSpPr/>
          <p:nvPr/>
        </p:nvSpPr>
        <p:spPr>
          <a:xfrm>
            <a:off x="2609999" y="3924000"/>
            <a:ext cx="2232000" cy="540000"/>
          </a:xfrm>
          <a:prstGeom prst="roundRect">
            <a:avLst>
              <a:gd name="adj" fmla="val 7000"/>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17999" y="3942000"/>
            <a:ext cx="2015999" cy="251999"/>
          </a:xfrm>
          <a:prstGeom prst="rect">
            <a:avLst/>
          </a:prstGeom>
          <a:noFill/>
        </p:spPr>
        <p:txBody>
          <a:bodyPr wrap="square">
            <a:spAutoFit/>
          </a:bodyPr>
          <a:lstStyle/>
          <a:p>
            <a:pPr algn="l"/>
            <a:r>
              <a:rPr sz="1050" b="1" i="0">
                <a:solidFill>
                  <a:srgbClr val="0F5228"/>
                </a:solidFill>
                <a:latin typeface="メイリオ"/>
              </a:rPr>
              <a:t>🎂  林 久美子さん</a:t>
            </a:r>
          </a:p>
        </p:txBody>
      </p:sp>
      <p:sp>
        <p:nvSpPr>
          <p:cNvPr id="41" name="TextBox 40"/>
          <p:cNvSpPr txBox="1"/>
          <p:nvPr/>
        </p:nvSpPr>
        <p:spPr>
          <a:xfrm>
            <a:off x="2717999" y="4194000"/>
            <a:ext cx="2015999" cy="216000"/>
          </a:xfrm>
          <a:prstGeom prst="rect">
            <a:avLst/>
          </a:prstGeom>
          <a:noFill/>
        </p:spPr>
        <p:txBody>
          <a:bodyPr wrap="square">
            <a:spAutoFit/>
          </a:bodyPr>
          <a:lstStyle/>
          <a:p>
            <a:pPr algn="l"/>
            <a:r>
              <a:rPr sz="850" b="0" i="0">
                <a:solidFill>
                  <a:srgbClr val="888888"/>
                </a:solidFill>
                <a:latin typeface="メイリオ"/>
              </a:rPr>
              <a:t>北野田店</a:t>
            </a:r>
          </a:p>
        </p:txBody>
      </p:sp>
      <p:sp>
        <p:nvSpPr>
          <p:cNvPr id="42" name="Rounded Rectangle 41"/>
          <p:cNvSpPr/>
          <p:nvPr/>
        </p:nvSpPr>
        <p:spPr>
          <a:xfrm>
            <a:off x="4967999" y="3924000"/>
            <a:ext cx="2232000" cy="540000"/>
          </a:xfrm>
          <a:prstGeom prst="roundRect">
            <a:avLst>
              <a:gd name="adj" fmla="val 7000"/>
            </a:avLst>
          </a:prstGeom>
          <a:solidFill>
            <a:srgbClr val="FFF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75999" y="3942000"/>
            <a:ext cx="2015999" cy="251999"/>
          </a:xfrm>
          <a:prstGeom prst="rect">
            <a:avLst/>
          </a:prstGeom>
          <a:noFill/>
        </p:spPr>
        <p:txBody>
          <a:bodyPr wrap="square">
            <a:spAutoFit/>
          </a:bodyPr>
          <a:lstStyle/>
          <a:p>
            <a:pPr algn="l"/>
            <a:r>
              <a:rPr sz="1050" b="1" i="0">
                <a:solidFill>
                  <a:srgbClr val="0F5228"/>
                </a:solidFill>
                <a:latin typeface="メイリオ"/>
              </a:rPr>
              <a:t>🎂  松本 玲子さん</a:t>
            </a:r>
          </a:p>
        </p:txBody>
      </p:sp>
      <p:sp>
        <p:nvSpPr>
          <p:cNvPr id="44" name="TextBox 43"/>
          <p:cNvSpPr txBox="1"/>
          <p:nvPr/>
        </p:nvSpPr>
        <p:spPr>
          <a:xfrm>
            <a:off x="5075999" y="4194000"/>
            <a:ext cx="2015999" cy="216000"/>
          </a:xfrm>
          <a:prstGeom prst="rect">
            <a:avLst/>
          </a:prstGeom>
          <a:noFill/>
        </p:spPr>
        <p:txBody>
          <a:bodyPr wrap="square">
            <a:spAutoFit/>
          </a:bodyPr>
          <a:lstStyle/>
          <a:p>
            <a:pPr algn="l"/>
            <a:r>
              <a:rPr sz="850" b="0" i="0">
                <a:solidFill>
                  <a:srgbClr val="888888"/>
                </a:solidFill>
                <a:latin typeface="メイリオ"/>
              </a:rPr>
              <a:t>さつき野店</a:t>
            </a:r>
          </a:p>
        </p:txBody>
      </p:sp>
      <p:sp>
        <p:nvSpPr>
          <p:cNvPr id="45" name="Rectangle 44"/>
          <p:cNvSpPr/>
          <p:nvPr/>
        </p:nvSpPr>
        <p:spPr>
          <a:xfrm>
            <a:off x="288000" y="4608000"/>
            <a:ext cx="6983999" cy="21600"/>
          </a:xfrm>
          <a:prstGeom prst="rect">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20000" y="4518000"/>
            <a:ext cx="720000" cy="180000"/>
          </a:xfrm>
          <a:prstGeom prst="rect">
            <a:avLst/>
          </a:prstGeom>
          <a:noFill/>
        </p:spPr>
        <p:txBody>
          <a:bodyPr wrap="square">
            <a:spAutoFit/>
          </a:bodyPr>
          <a:lstStyle/>
          <a:p>
            <a:pPr algn="ctr"/>
            <a:r>
              <a:rPr sz="1000" b="0" i="0">
                <a:solidFill>
                  <a:srgbClr val="1A7A3C"/>
                </a:solidFill>
                <a:latin typeface="メイリオ"/>
              </a:rPr>
              <a:t>✦</a:t>
            </a:r>
          </a:p>
        </p:txBody>
      </p:sp>
      <p:sp>
        <p:nvSpPr>
          <p:cNvPr id="47" name="Rounded Rectangle 46"/>
          <p:cNvSpPr/>
          <p:nvPr/>
        </p:nvSpPr>
        <p:spPr>
          <a:xfrm>
            <a:off x="251999" y="4680000"/>
            <a:ext cx="7056000" cy="413999"/>
          </a:xfrm>
          <a:prstGeom prst="roundRect">
            <a:avLst>
              <a:gd name="adj" fmla="val 4000"/>
            </a:avLst>
          </a:prstGeom>
          <a:solidFill>
            <a:srgbClr val="F48F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41999" y="4716000"/>
            <a:ext cx="341999" cy="341999"/>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3999" y="4698000"/>
            <a:ext cx="413999" cy="377999"/>
          </a:xfrm>
          <a:prstGeom prst="rect">
            <a:avLst/>
          </a:prstGeom>
          <a:noFill/>
        </p:spPr>
        <p:txBody>
          <a:bodyPr wrap="square">
            <a:spAutoFit/>
          </a:bodyPr>
          <a:lstStyle/>
          <a:p>
            <a:pPr algn="ctr"/>
            <a:r>
              <a:rPr sz="1400" b="0" i="0">
                <a:solidFill>
                  <a:srgbClr val="2C2C2C"/>
                </a:solidFill>
                <a:latin typeface="メイリオ"/>
              </a:rPr>
              <a:t>📮</a:t>
            </a:r>
          </a:p>
        </p:txBody>
      </p:sp>
      <p:sp>
        <p:nvSpPr>
          <p:cNvPr id="50" name="TextBox 49"/>
          <p:cNvSpPr txBox="1"/>
          <p:nvPr/>
        </p:nvSpPr>
        <p:spPr>
          <a:xfrm>
            <a:off x="773998" y="4716000"/>
            <a:ext cx="6462001" cy="341999"/>
          </a:xfrm>
          <a:prstGeom prst="rect">
            <a:avLst/>
          </a:prstGeom>
          <a:noFill/>
        </p:spPr>
        <p:txBody>
          <a:bodyPr wrap="square">
            <a:spAutoFit/>
          </a:bodyPr>
          <a:lstStyle/>
          <a:p>
            <a:pPr algn="l"/>
            <a:r>
              <a:rPr sz="1300" b="1" i="0">
                <a:solidFill>
                  <a:srgbClr val="FFFFFF"/>
                </a:solidFill>
                <a:latin typeface="メイリオ"/>
              </a:rPr>
              <a:t>投稿募集 &amp; 読者プレゼント</a:t>
            </a:r>
          </a:p>
        </p:txBody>
      </p:sp>
      <p:sp>
        <p:nvSpPr>
          <p:cNvPr id="51" name="Rounded Rectangle 50"/>
          <p:cNvSpPr/>
          <p:nvPr/>
        </p:nvSpPr>
        <p:spPr>
          <a:xfrm>
            <a:off x="251999" y="5166000"/>
            <a:ext cx="4031999" cy="1908000"/>
          </a:xfrm>
          <a:prstGeom prst="roundRect">
            <a:avLst>
              <a:gd name="adj" fmla="val 5000"/>
            </a:avLst>
          </a:prstGeom>
          <a:solidFill>
            <a:srgbClr val="FD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0000" y="5238000"/>
            <a:ext cx="3816000" cy="1800000"/>
          </a:xfrm>
          <a:prstGeom prst="rect">
            <a:avLst/>
          </a:prstGeom>
          <a:noFill/>
        </p:spPr>
        <p:txBody>
          <a:bodyPr wrap="square">
            <a:spAutoFit/>
          </a:bodyPr>
          <a:lstStyle/>
          <a:p>
            <a:pPr algn="l"/>
            <a:r>
              <a:rPr sz="950" b="1">
                <a:solidFill>
                  <a:srgbClr val="2C2C2C"/>
                </a:solidFill>
                <a:latin typeface="メイリオ"/>
              </a:rPr>
              <a:t>📝 投稿募集中！みなさんの声で作る社内報です</a:t>
            </a:r>
          </a:p>
          <a:p>
            <a:pPr algn="l"/>
            <a:r>
              <a:rPr sz="950" b="0">
                <a:solidFill>
                  <a:srgbClr val="2C2C2C"/>
                </a:solidFill>
                <a:latin typeface="メイリオ"/>
              </a:rPr>
              <a:t/>
            </a:r>
          </a:p>
          <a:p>
            <a:pPr algn="l"/>
            <a:r>
              <a:rPr sz="950" b="0">
                <a:solidFill>
                  <a:srgbClr val="2C2C2C"/>
                </a:solidFill>
                <a:latin typeface="メイリオ"/>
              </a:rPr>
              <a:t> ■ 〇〇店の職場自慢！（エピソード＋写真）</a:t>
            </a:r>
          </a:p>
          <a:p>
            <a:pPr algn="l"/>
            <a:r>
              <a:rPr sz="950" b="0">
                <a:solidFill>
                  <a:srgbClr val="2C2C2C"/>
                </a:solidFill>
                <a:latin typeface="メイリオ"/>
              </a:rPr>
              <a:t> ■ わたしの独り言（お客様とのほっこり話）</a:t>
            </a:r>
          </a:p>
          <a:p>
            <a:pPr algn="l"/>
            <a:r>
              <a:rPr sz="950" b="0">
                <a:solidFill>
                  <a:srgbClr val="2C2C2C"/>
                </a:solidFill>
                <a:latin typeface="メイリオ"/>
              </a:rPr>
              <a:t> ■ アレンジレシピ（サンプラザ商品を使ったもの）</a:t>
            </a:r>
          </a:p>
          <a:p>
            <a:pPr algn="l"/>
            <a:r>
              <a:rPr sz="950" b="0">
                <a:solidFill>
                  <a:srgbClr val="2C2C2C"/>
                </a:solidFill>
                <a:latin typeface="メイリオ"/>
              </a:rPr>
              <a:t> ■ 郷土料理レシピ（故郷の味を教えてください！）</a:t>
            </a:r>
          </a:p>
          <a:p>
            <a:pPr algn="l"/>
            <a:r>
              <a:rPr sz="950" b="0">
                <a:solidFill>
                  <a:srgbClr val="2C2C2C"/>
                </a:solidFill>
                <a:latin typeface="メイリオ"/>
              </a:rPr>
              <a:t> ■ 生活の知恵（得するTipsなど）</a:t>
            </a:r>
          </a:p>
          <a:p>
            <a:pPr algn="l"/>
            <a:r>
              <a:rPr sz="950" b="0">
                <a:solidFill>
                  <a:srgbClr val="2C2C2C"/>
                </a:solidFill>
                <a:latin typeface="メイリオ"/>
              </a:rPr>
              <a:t/>
            </a:r>
          </a:p>
          <a:p>
            <a:pPr algn="l"/>
            <a:r>
              <a:rPr sz="950" b="0">
                <a:solidFill>
                  <a:srgbClr val="2C2C2C"/>
                </a:solidFill>
                <a:latin typeface="メイリオ"/>
              </a:rPr>
              <a:t>締め切り：毎月15日</a:t>
            </a:r>
          </a:p>
          <a:p>
            <a:pPr algn="l"/>
            <a:r>
              <a:rPr sz="950" b="0">
                <a:solidFill>
                  <a:srgbClr val="2C2C2C"/>
                </a:solidFill>
                <a:latin typeface="メイリオ"/>
              </a:rPr>
              <a:t>提出先：各店舗リーダー経由 or 総務部へメール</a:t>
            </a:r>
          </a:p>
        </p:txBody>
      </p:sp>
      <p:sp>
        <p:nvSpPr>
          <p:cNvPr id="53" name="Rounded Rectangle 52"/>
          <p:cNvSpPr/>
          <p:nvPr/>
        </p:nvSpPr>
        <p:spPr>
          <a:xfrm>
            <a:off x="4428000" y="5166000"/>
            <a:ext cx="2880000" cy="1908000"/>
          </a:xfrm>
          <a:prstGeom prst="roundRect">
            <a:avLst>
              <a:gd name="adj" fmla="val 5000"/>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28000" y="5166000"/>
            <a:ext cx="2880000" cy="251999"/>
          </a:xfrm>
          <a:prstGeom prst="rect">
            <a:avLst/>
          </a:prstGeom>
          <a:solidFill>
            <a:srgbClr val="4CA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00000" y="5173200"/>
            <a:ext cx="2736000" cy="234000"/>
          </a:xfrm>
          <a:prstGeom prst="rect">
            <a:avLst/>
          </a:prstGeom>
          <a:noFill/>
        </p:spPr>
        <p:txBody>
          <a:bodyPr wrap="square">
            <a:spAutoFit/>
          </a:bodyPr>
          <a:lstStyle/>
          <a:p>
            <a:pPr algn="l"/>
            <a:r>
              <a:rPr sz="1100" b="1" i="0">
                <a:solidFill>
                  <a:srgbClr val="FFFFFF"/>
                </a:solidFill>
                <a:latin typeface="メイリオ"/>
              </a:rPr>
              <a:t>🎁  読者プレゼント</a:t>
            </a:r>
          </a:p>
        </p:txBody>
      </p:sp>
      <p:sp>
        <p:nvSpPr>
          <p:cNvPr id="56" name="TextBox 55"/>
          <p:cNvSpPr txBox="1"/>
          <p:nvPr/>
        </p:nvSpPr>
        <p:spPr>
          <a:xfrm>
            <a:off x="4500000" y="5472000"/>
            <a:ext cx="2736000" cy="1512000"/>
          </a:xfrm>
          <a:prstGeom prst="rect">
            <a:avLst/>
          </a:prstGeom>
          <a:noFill/>
        </p:spPr>
        <p:txBody>
          <a:bodyPr wrap="square">
            <a:spAutoFit/>
          </a:bodyPr>
          <a:lstStyle/>
          <a:p>
            <a:pPr algn="l"/>
            <a:r>
              <a:rPr sz="1000" b="0">
                <a:solidFill>
                  <a:srgbClr val="2C2C2C"/>
                </a:solidFill>
                <a:latin typeface="メイリオ"/>
              </a:rPr>
              <a:t>採用された投稿者に</a:t>
            </a:r>
          </a:p>
          <a:p>
            <a:pPr algn="l"/>
            <a:r>
              <a:rPr sz="1000" b="0">
                <a:solidFill>
                  <a:srgbClr val="2C2C2C"/>
                </a:solidFill>
                <a:latin typeface="メイリオ"/>
              </a:rPr>
              <a:t>サンプラザ商品券</a:t>
            </a:r>
          </a:p>
          <a:p>
            <a:pPr algn="l"/>
            <a:r>
              <a:rPr sz="1000" b="0">
                <a:solidFill>
                  <a:srgbClr val="2C2C2C"/>
                </a:solidFill>
                <a:latin typeface="メイリオ"/>
              </a:rPr>
              <a:t>（500円分）をプレゼント！</a:t>
            </a:r>
          </a:p>
          <a:p>
            <a:pPr algn="l"/>
            <a:r>
              <a:rPr sz="1000" b="0">
                <a:solidFill>
                  <a:srgbClr val="2C2C2C"/>
                </a:solidFill>
                <a:latin typeface="メイリオ"/>
              </a:rPr>
              <a:t/>
            </a:r>
          </a:p>
          <a:p>
            <a:pPr algn="l"/>
            <a:r>
              <a:rPr sz="1000" b="0">
                <a:solidFill>
                  <a:srgbClr val="2C2C2C"/>
                </a:solidFill>
                <a:latin typeface="メイリオ"/>
              </a:rPr>
              <a:t>💚 創刊号採用者には</a:t>
            </a:r>
          </a:p>
          <a:p>
            <a:pPr algn="l"/>
            <a:r>
              <a:rPr sz="1000" b="0">
                <a:solidFill>
                  <a:srgbClr val="2C2C2C"/>
                </a:solidFill>
                <a:latin typeface="メイリオ"/>
              </a:rPr>
              <a:t>    特別に1,000円分贈呈！</a:t>
            </a:r>
          </a:p>
          <a:p>
            <a:pPr algn="l"/>
            <a:r>
              <a:rPr sz="1000" b="0">
                <a:solidFill>
                  <a:srgbClr val="2C2C2C"/>
                </a:solidFill>
                <a:latin typeface="メイリオ"/>
              </a:rPr>
              <a:t/>
            </a:r>
          </a:p>
          <a:p>
            <a:pPr algn="l"/>
            <a:r>
              <a:rPr sz="1000" b="0">
                <a:solidFill>
                  <a:srgbClr val="2C2C2C"/>
                </a:solidFill>
                <a:latin typeface="メイリオ"/>
              </a:rPr>
              <a:t>たくさんのご投稿</a:t>
            </a:r>
          </a:p>
          <a:p>
            <a:pPr algn="l"/>
            <a:r>
              <a:rPr sz="1000" b="0">
                <a:solidFill>
                  <a:srgbClr val="2C2C2C"/>
                </a:solidFill>
                <a:latin typeface="メイリオ"/>
              </a:rPr>
              <a:t>お待ちしています♪</a:t>
            </a:r>
          </a:p>
        </p:txBody>
      </p:sp>
      <p:sp>
        <p:nvSpPr>
          <p:cNvPr id="57" name="Rectangle 56"/>
          <p:cNvSpPr/>
          <p:nvPr/>
        </p:nvSpPr>
        <p:spPr>
          <a:xfrm>
            <a:off x="288000" y="7163999"/>
            <a:ext cx="6983999" cy="21600"/>
          </a:xfrm>
          <a:prstGeom prst="rect">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20000" y="7073999"/>
            <a:ext cx="720000" cy="180000"/>
          </a:xfrm>
          <a:prstGeom prst="rect">
            <a:avLst/>
          </a:prstGeom>
          <a:noFill/>
        </p:spPr>
        <p:txBody>
          <a:bodyPr wrap="square">
            <a:spAutoFit/>
          </a:bodyPr>
          <a:lstStyle/>
          <a:p>
            <a:pPr algn="ctr"/>
            <a:r>
              <a:rPr sz="1000" b="0" i="0">
                <a:solidFill>
                  <a:srgbClr val="1A7A3C"/>
                </a:solidFill>
                <a:latin typeface="メイリオ"/>
              </a:rPr>
              <a:t>✦</a:t>
            </a:r>
          </a:p>
        </p:txBody>
      </p:sp>
      <p:sp>
        <p:nvSpPr>
          <p:cNvPr id="59" name="Rounded Rectangle 58"/>
          <p:cNvSpPr/>
          <p:nvPr/>
        </p:nvSpPr>
        <p:spPr>
          <a:xfrm>
            <a:off x="251999" y="7236000"/>
            <a:ext cx="7056000" cy="360000"/>
          </a:xfrm>
          <a:prstGeom prst="roundRect">
            <a:avLst>
              <a:gd name="adj" fmla="val 4000"/>
            </a:avLst>
          </a:prstGeom>
          <a:solidFill>
            <a:srgbClr val="0F5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41999" y="727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3999" y="7254000"/>
            <a:ext cx="360000" cy="324000"/>
          </a:xfrm>
          <a:prstGeom prst="rect">
            <a:avLst/>
          </a:prstGeom>
          <a:noFill/>
        </p:spPr>
        <p:txBody>
          <a:bodyPr wrap="square">
            <a:spAutoFit/>
          </a:bodyPr>
          <a:lstStyle/>
          <a:p>
            <a:pPr algn="ctr"/>
            <a:r>
              <a:rPr sz="1400" b="0" i="0">
                <a:solidFill>
                  <a:srgbClr val="2C2C2C"/>
                </a:solidFill>
                <a:latin typeface="メイリオ"/>
              </a:rPr>
              <a:t>✏️</a:t>
            </a:r>
          </a:p>
        </p:txBody>
      </p:sp>
      <p:sp>
        <p:nvSpPr>
          <p:cNvPr id="62" name="TextBox 61"/>
          <p:cNvSpPr txBox="1"/>
          <p:nvPr/>
        </p:nvSpPr>
        <p:spPr>
          <a:xfrm>
            <a:off x="719999" y="7272000"/>
            <a:ext cx="6516000" cy="288000"/>
          </a:xfrm>
          <a:prstGeom prst="rect">
            <a:avLst/>
          </a:prstGeom>
          <a:noFill/>
        </p:spPr>
        <p:txBody>
          <a:bodyPr wrap="square">
            <a:spAutoFit/>
          </a:bodyPr>
          <a:lstStyle/>
          <a:p>
            <a:pPr algn="l"/>
            <a:r>
              <a:rPr sz="1300" b="1" i="0">
                <a:solidFill>
                  <a:srgbClr val="FFFFFF"/>
                </a:solidFill>
                <a:latin typeface="メイリオ"/>
              </a:rPr>
              <a:t>編集後記</a:t>
            </a:r>
          </a:p>
        </p:txBody>
      </p:sp>
      <p:sp>
        <p:nvSpPr>
          <p:cNvPr id="63" name="Rounded Rectangle 62"/>
          <p:cNvSpPr/>
          <p:nvPr/>
        </p:nvSpPr>
        <p:spPr>
          <a:xfrm>
            <a:off x="251999" y="7668000"/>
            <a:ext cx="5328000" cy="1188000"/>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0000" y="7722000"/>
            <a:ext cx="5112000" cy="1080000"/>
          </a:xfrm>
          <a:prstGeom prst="rect">
            <a:avLst/>
          </a:prstGeom>
          <a:noFill/>
        </p:spPr>
        <p:txBody>
          <a:bodyPr wrap="square">
            <a:spAutoFit/>
          </a:bodyPr>
          <a:lstStyle/>
          <a:p>
            <a:pPr algn="l"/>
            <a:r>
              <a:rPr sz="950" b="0">
                <a:solidFill>
                  <a:srgbClr val="2C2C2C"/>
                </a:solidFill>
                <a:latin typeface="メイリオ"/>
              </a:rPr>
              <a:t>　「ひだまり通信」、ついに創刊です！</a:t>
            </a:r>
          </a:p>
          <a:p>
            <a:pPr algn="l"/>
            <a:r>
              <a:rPr sz="950" b="0">
                <a:solidFill>
                  <a:srgbClr val="2C2C2C"/>
                </a:solidFill>
                <a:latin typeface="メイリオ"/>
              </a:rPr>
              <a:t/>
            </a:r>
          </a:p>
          <a:p>
            <a:pPr algn="l"/>
            <a:r>
              <a:rPr sz="950" b="0">
                <a:solidFill>
                  <a:srgbClr val="2C2C2C"/>
                </a:solidFill>
                <a:latin typeface="メイリオ"/>
              </a:rPr>
              <a:t>　南大阪のあちこちの店舗で、毎日いきいきと働くみなさんの</a:t>
            </a:r>
          </a:p>
          <a:p>
            <a:pPr algn="l"/>
            <a:r>
              <a:rPr sz="950" b="0">
                <a:solidFill>
                  <a:srgbClr val="2C2C2C"/>
                </a:solidFill>
                <a:latin typeface="メイリオ"/>
              </a:rPr>
              <a:t>声とエピソードをつなげる場所を作りたいという想いから生まれ</a:t>
            </a:r>
          </a:p>
          <a:p>
            <a:pPr algn="l"/>
            <a:r>
              <a:rPr sz="950" b="0">
                <a:solidFill>
                  <a:srgbClr val="2C2C2C"/>
                </a:solidFill>
                <a:latin typeface="メイリオ"/>
              </a:rPr>
              <a:t>ました。毎号、みなさんの投稿でにぎやかに作っていきましょう！</a:t>
            </a:r>
          </a:p>
          <a:p>
            <a:pPr algn="l"/>
            <a:r>
              <a:rPr sz="950" b="0">
                <a:solidFill>
                  <a:srgbClr val="2C2C2C"/>
                </a:solidFill>
                <a:latin typeface="メイリオ"/>
              </a:rPr>
              <a:t/>
            </a:r>
          </a:p>
          <a:p>
            <a:pPr algn="l"/>
            <a:r>
              <a:rPr sz="950" b="0">
                <a:solidFill>
                  <a:srgbClr val="2C2C2C"/>
                </a:solidFill>
                <a:latin typeface="メイリオ"/>
              </a:rPr>
              <a:t>                     編集部：総務部 河野・中嶋</a:t>
            </a:r>
          </a:p>
        </p:txBody>
      </p:sp>
      <p:sp>
        <p:nvSpPr>
          <p:cNvPr id="65" name="Rounded Rectangle 64"/>
          <p:cNvSpPr/>
          <p:nvPr/>
        </p:nvSpPr>
        <p:spPr>
          <a:xfrm>
            <a:off x="5760000" y="7668000"/>
            <a:ext cx="1548000" cy="1188000"/>
          </a:xfrm>
          <a:prstGeom prst="roundRect">
            <a:avLst>
              <a:gd name="adj" fmla="val 4000"/>
            </a:avLst>
          </a:prstGeom>
          <a:solidFill>
            <a:srgbClr val="D8F0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796000" y="7703999"/>
            <a:ext cx="1475999" cy="827999"/>
          </a:xfrm>
          <a:prstGeom prst="rect">
            <a:avLst/>
          </a:prstGeom>
          <a:solidFill>
            <a:srgbClr val="F0F0F0"/>
          </a:solidFill>
          <a:ln w="12700">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796000" y="7901998"/>
            <a:ext cx="1475999" cy="432000"/>
          </a:xfrm>
          <a:prstGeom prst="rect">
            <a:avLst/>
          </a:prstGeom>
          <a:noFill/>
        </p:spPr>
        <p:txBody>
          <a:bodyPr wrap="square">
            <a:spAutoFit/>
          </a:bodyPr>
          <a:lstStyle/>
          <a:p>
            <a:pPr algn="ctr"/>
            <a:r>
              <a:rPr sz="850" b="0" i="0">
                <a:solidFill>
                  <a:srgbClr val="888888"/>
                </a:solidFill>
                <a:latin typeface="メイリオ"/>
              </a:rPr>
              <a:t>📱</a:t>
            </a:r>
            <a:br/>
            <a:r>
              <a:t>QRコード</a:t>
            </a:r>
            <a:br/>
            <a:r>
              <a:t>（投稿フォーム）</a:t>
            </a:r>
          </a:p>
        </p:txBody>
      </p:sp>
      <p:sp>
        <p:nvSpPr>
          <p:cNvPr id="68" name="TextBox 67"/>
          <p:cNvSpPr txBox="1"/>
          <p:nvPr/>
        </p:nvSpPr>
        <p:spPr>
          <a:xfrm>
            <a:off x="5760000" y="8568000"/>
            <a:ext cx="1548000" cy="251999"/>
          </a:xfrm>
          <a:prstGeom prst="rect">
            <a:avLst/>
          </a:prstGeom>
          <a:noFill/>
        </p:spPr>
        <p:txBody>
          <a:bodyPr wrap="square">
            <a:spAutoFit/>
          </a:bodyPr>
          <a:lstStyle/>
          <a:p>
            <a:pPr algn="ctr"/>
            <a:r>
              <a:rPr sz="850" b="0" i="0">
                <a:solidFill>
                  <a:srgbClr val="0F5228"/>
                </a:solidFill>
                <a:latin typeface="メイリオ"/>
              </a:rPr>
              <a:t>投稿はこちらから</a:t>
            </a:r>
          </a:p>
        </p:txBody>
      </p:sp>
      <p:sp>
        <p:nvSpPr>
          <p:cNvPr id="69" name="Rectangle 68"/>
          <p:cNvSpPr/>
          <p:nvPr/>
        </p:nvSpPr>
        <p:spPr>
          <a:xfrm>
            <a:off x="0" y="9972000"/>
            <a:ext cx="7560000" cy="720000"/>
          </a:xfrm>
          <a:prstGeom prst="rect">
            <a:avLst/>
          </a:prstGeom>
          <a:solidFill>
            <a:srgbClr val="0F5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80000" y="10026000"/>
            <a:ext cx="7200000" cy="306000"/>
          </a:xfrm>
          <a:prstGeom prst="rect">
            <a:avLst/>
          </a:prstGeom>
          <a:noFill/>
        </p:spPr>
        <p:txBody>
          <a:bodyPr wrap="square">
            <a:spAutoFit/>
          </a:bodyPr>
          <a:lstStyle/>
          <a:p>
            <a:pPr algn="ctr"/>
            <a:r>
              <a:rPr sz="1100" b="1" i="0">
                <a:solidFill>
                  <a:srgbClr val="FFFFFF"/>
                </a:solidFill>
                <a:latin typeface="メイリオ"/>
              </a:rPr>
              <a:t>サンプラザ ひだまり通信  創刊号  発行日：2026年6月1日</a:t>
            </a:r>
          </a:p>
        </p:txBody>
      </p:sp>
      <p:sp>
        <p:nvSpPr>
          <p:cNvPr id="71" name="TextBox 70"/>
          <p:cNvSpPr txBox="1"/>
          <p:nvPr/>
        </p:nvSpPr>
        <p:spPr>
          <a:xfrm>
            <a:off x="180000" y="10332000"/>
            <a:ext cx="7200000" cy="251999"/>
          </a:xfrm>
          <a:prstGeom prst="rect">
            <a:avLst/>
          </a:prstGeom>
          <a:noFill/>
        </p:spPr>
        <p:txBody>
          <a:bodyPr wrap="square">
            <a:spAutoFit/>
          </a:bodyPr>
          <a:lstStyle/>
          <a:p>
            <a:pPr algn="ctr"/>
            <a:r>
              <a:rPr sz="800" b="0" i="0">
                <a:solidFill>
                  <a:srgbClr val="D8F0E3"/>
                </a:solidFill>
                <a:latin typeface="メイリオ"/>
              </a:rPr>
              <a:t>発行：株式会社サンプラザ 総務部　〒大阪府羽曳野市誉田（本社）</a:t>
            </a:r>
          </a:p>
        </p:txBody>
      </p:sp>
      <p:sp>
        <p:nvSpPr>
          <p:cNvPr id="72" name="TextBox 71"/>
          <p:cNvSpPr txBox="1"/>
          <p:nvPr/>
        </p:nvSpPr>
        <p:spPr>
          <a:xfrm>
            <a:off x="180000" y="9828000"/>
            <a:ext cx="360000" cy="360000"/>
          </a:xfrm>
          <a:prstGeom prst="rect">
            <a:avLst/>
          </a:prstGeom>
          <a:noFill/>
        </p:spPr>
        <p:txBody>
          <a:bodyPr wrap="square">
            <a:spAutoFit/>
          </a:bodyPr>
          <a:lstStyle/>
          <a:p>
            <a:pPr algn="ctr"/>
            <a:r>
              <a:rPr sz="1400" b="0" i="0">
                <a:solidFill>
                  <a:srgbClr val="A8FFC0"/>
                </a:solidFill>
                <a:latin typeface="メイリオ"/>
              </a:rPr>
              <a:t>🌿</a:t>
            </a:r>
          </a:p>
        </p:txBody>
      </p:sp>
      <p:sp>
        <p:nvSpPr>
          <p:cNvPr id="73" name="TextBox 72"/>
          <p:cNvSpPr txBox="1"/>
          <p:nvPr/>
        </p:nvSpPr>
        <p:spPr>
          <a:xfrm>
            <a:off x="900000" y="9756000"/>
            <a:ext cx="360000" cy="360000"/>
          </a:xfrm>
          <a:prstGeom prst="rect">
            <a:avLst/>
          </a:prstGeom>
          <a:noFill/>
        </p:spPr>
        <p:txBody>
          <a:bodyPr wrap="square">
            <a:spAutoFit/>
          </a:bodyPr>
          <a:lstStyle/>
          <a:p>
            <a:pPr algn="ctr"/>
            <a:r>
              <a:rPr sz="1400" b="0" i="0">
                <a:solidFill>
                  <a:srgbClr val="A8FFC0"/>
                </a:solidFill>
                <a:latin typeface="メイリオ"/>
              </a:rPr>
              <a:t>🌿</a:t>
            </a:r>
          </a:p>
        </p:txBody>
      </p:sp>
      <p:sp>
        <p:nvSpPr>
          <p:cNvPr id="74" name="TextBox 73"/>
          <p:cNvSpPr txBox="1"/>
          <p:nvPr/>
        </p:nvSpPr>
        <p:spPr>
          <a:xfrm>
            <a:off x="6120000" y="9756000"/>
            <a:ext cx="360000" cy="360000"/>
          </a:xfrm>
          <a:prstGeom prst="rect">
            <a:avLst/>
          </a:prstGeom>
          <a:noFill/>
        </p:spPr>
        <p:txBody>
          <a:bodyPr wrap="square">
            <a:spAutoFit/>
          </a:bodyPr>
          <a:lstStyle/>
          <a:p>
            <a:pPr algn="ctr"/>
            <a:r>
              <a:rPr sz="1400" b="0" i="0">
                <a:solidFill>
                  <a:srgbClr val="A8FFC0"/>
                </a:solidFill>
                <a:latin typeface="メイリオ"/>
              </a:rPr>
              <a:t>🌿</a:t>
            </a:r>
          </a:p>
        </p:txBody>
      </p:sp>
      <p:sp>
        <p:nvSpPr>
          <p:cNvPr id="75" name="TextBox 74"/>
          <p:cNvSpPr txBox="1"/>
          <p:nvPr/>
        </p:nvSpPr>
        <p:spPr>
          <a:xfrm>
            <a:off x="6840000" y="9828000"/>
            <a:ext cx="360000" cy="360000"/>
          </a:xfrm>
          <a:prstGeom prst="rect">
            <a:avLst/>
          </a:prstGeom>
          <a:noFill/>
        </p:spPr>
        <p:txBody>
          <a:bodyPr wrap="square">
            <a:spAutoFit/>
          </a:bodyPr>
          <a:lstStyle/>
          <a:p>
            <a:pPr algn="ctr"/>
            <a:r>
              <a:rPr sz="1400" b="0" i="0">
                <a:solidFill>
                  <a:srgbClr val="A8FFC0"/>
                </a:solidFill>
                <a:latin typeface="メイリオ"/>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